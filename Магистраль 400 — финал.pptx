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8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6858000" cy="9144000"/>
  <p:embeddedFontLst>
    <p:embeddedFont>
      <p:font typeface="Moscow Sans Regular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4874CC0-75AF-44CB-AD0B-A6C946CA5C1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(0:25–0:40) Мы команда «Кокаманы», и это «Магистраль 400», тренажёр нештатных ситуаций для проводников ВСМ. Уровни проводника здесь — станции на линии Москва — Петербург.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(0:00–0:25) Пятница, поезд идёт 300 километров в час. Проводнику приходит голосовое от коллеги: «У меня в третьем вагоне плачет девочка лет пяти, маму потеряла, взрослых рядом нет». На решение 15 секунд. Если замешкаться, девочка уйдёт в тамбур одна.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Такие ситуации не отрепетируешь на живых пассажирах. А решать их придётся.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(0:40–1:00) Кейс ставит четыре проблемы: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лекции и тесты не учат решать под давлением;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нет безопасной среды для отработки;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soft skills трудно измерить;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 постоянному обучению нет мотивации.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 закрываем каждую.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(0:00–0:25) Пятница, поезд идёт 300 километров в час. Проводнику приходит голосовое от коллеги: «У меня в третьем вагоне плачет девочка лет пяти, маму потеряла, взрослых рядом нет». На решение 15 секунд. Если замешкаться, девочка уйдёт в тамбур одна.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Такие ситуации не отрепетируешь на живых пассажирах. А решать их придётся.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(1:00–1:35) Контент мы не выдумывали. Все 51 ситуацию из справочника «Примеры ситуаций взаимодействия поездного персонала с пассажирами» и стандарты СТО РЖД для ВСМ мы собрали в 14 сюжетных рейсов.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Вот рейс «Двое на одном месте». Пассажир занял чужое место, на решение 20 секунд. Если ответить грубо, «освободите немедленно», лояльность падает с 60 до 45, и пассажир грозит жалобой.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Диалог нелинейный: каждое решение ведёт в свою ветку. Таймер не декорация. Если время вышло, срабатывает отдельная ветка с последствиями.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(1:35–2:05) Лояльность пассажира и безопасность считаются отдельно, и одно решение влияет на них по-разному. Если безопасность падает до нуля, рейс сразу заканчивается провалом: «Критический инцидент».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После рейса проводник видит разбор каждого решения: что пошло не так, как было правильно и кого звать — начальника поезда, транспортную безопасность или электромеханика. Не просто «верно / неверно».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(2:05–2:30) Руководитель может посреди смены отправить экстренный вызов всем или выбранным сотрудникам. Проводник слушает голосовое и учится воспринимать информацию на слух. Хард-уровень: голосовое на английском от иностранной пассажирки.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Свободный ответ оценивает ИИ-наставник по рубрике из регламента.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(2:30–2:45) Раз в неделю проходит турнир: 10 вопросов по 15 секунд, все отвечают одновременно. Топ-10 получают трофей и 100 очков компетенций.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(2:45–3:05) Цикл замкнут: действие → очки → ачивки → рейтинг → мотивация.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- 8 уровней от «Стажёра» до «Легенды магистрали» и 14 ачивок.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Рейтинг по компании, депо и бригаде.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Уведомления, в том числе «недельный рейтинг скоро обнулится».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Следующий рейс система подбирает по слабым местам.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(3:05–3:25) Руководитель сразу видит, кому нужна помощь: у кого за месяц просела безопасность, кто давно не тренировался. Есть карточки сотрудников с готовностью к повышению и отчёты для HR в Excel и JSON.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(3:25–3:40) Вопрос можно задать обычными словами, например: «Покажи всех, у кого упал рейтинг безопасности». Ответ строится по живым данным.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(3:40–4:00) Инструктор описывает ситуацию своими словами, и ИИ собирает черновик ветвящегося сценария: реплики, таймеры, влияние на шкалы. Система проверяет граф, инструктор правит его в редакторе и публикует. Код трогать не нужно.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(4:00–4:30) Под капотом: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фронтенд на React;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бэкенд на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отдельный ML-сервис на GigaChat, а без ключей работает эвристика;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и Valkey;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метрики в Prometheus, логи в Loki, дашборды в Grafana.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Весь API описан в Swagger. Проект поднимается одной командой в Docker. В демо только синтетические данные, по 152-ФЗ.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(4:30–4:45) Дальше: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валидация сценариев с экспертами ВСМ;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голосовой ответ с транскрибацией;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командные турниры бригад;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SSO и интеграция с LMS.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(4:45–5:00) Всё, что вы видели, уже работает на vsm-gamification.ru. Отсканируйте QR-код, логины на экране. Спасибо, ждём ваших вопросов.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;p2"/>
          <p:cNvPicPr/>
          <p:nvPr/>
        </p:nvPicPr>
        <p:blipFill>
          <a:blip r:embed="rId3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;p3"/>
          <p:cNvPicPr/>
          <p:nvPr/>
        </p:nvPicPr>
        <p:blipFill>
          <a:blip r:embed="rId2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1;p4"/>
          <p:cNvPicPr/>
          <p:nvPr/>
        </p:nvPicPr>
        <p:blipFill>
          <a:blip r:embed="rId2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4;p6"/>
          <p:cNvPicPr/>
          <p:nvPr/>
        </p:nvPicPr>
        <p:blipFill>
          <a:blip r:embed="rId3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1;p9"/>
          <p:cNvPicPr/>
          <p:nvPr/>
        </p:nvPicPr>
        <p:blipFill>
          <a:blip r:embed="rId1"/>
          <a:stretch/>
        </p:blipFill>
        <p:spPr>
          <a:xfrm>
            <a:off x="6094080" y="453240"/>
            <a:ext cx="2450880" cy="36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Google Shape;23;p9"/>
          <p:cNvPicPr/>
          <p:nvPr/>
        </p:nvPicPr>
        <p:blipFill>
          <a:blip r:embed="rId2"/>
          <a:stretch/>
        </p:blipFill>
        <p:spPr>
          <a:xfrm>
            <a:off x="632880" y="1066680"/>
            <a:ext cx="7795080" cy="25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Google Shape;22;p9"/>
          <p:cNvSpPr/>
          <p:nvPr/>
        </p:nvSpPr>
        <p:spPr>
          <a:xfrm>
            <a:off x="868680" y="3730680"/>
            <a:ext cx="75884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3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 для проводников ВСМ · команда «Кокаманы»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"/>
          <p:cNvSpPr/>
          <p:nvPr/>
        </p:nvSpPr>
        <p:spPr>
          <a:xfrm>
            <a:off x="5760720" y="0"/>
            <a:ext cx="3382200" cy="514260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 2"/>
          <p:cNvSpPr/>
          <p:nvPr/>
        </p:nvSpPr>
        <p:spPr>
          <a:xfrm>
            <a:off x="5330880" y="401436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Rectangle 3"/>
          <p:cNvSpPr/>
          <p:nvPr/>
        </p:nvSpPr>
        <p:spPr>
          <a:xfrm>
            <a:off x="4901040" y="36028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Rectangle 4"/>
          <p:cNvSpPr/>
          <p:nvPr/>
        </p:nvSpPr>
        <p:spPr>
          <a:xfrm>
            <a:off x="4471560" y="401436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" name="Picture 5" descr="ph_emergency.png"/>
          <p:cNvPicPr/>
          <p:nvPr/>
        </p:nvPicPr>
        <p:blipFill>
          <a:blip r:embed="rId1"/>
          <a:stretch/>
        </p:blipFill>
        <p:spPr>
          <a:xfrm>
            <a:off x="6370200" y="311040"/>
            <a:ext cx="2163240" cy="452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Rounded Rectangle 6"/>
          <p:cNvSpPr/>
          <p:nvPr/>
        </p:nvSpPr>
        <p:spPr>
          <a:xfrm>
            <a:off x="384120" y="502920"/>
            <a:ext cx="201528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ЭКСТРЕННАЯ СИТУАЦИЯ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7"/>
          <p:cNvSpPr/>
          <p:nvPr/>
        </p:nvSpPr>
        <p:spPr>
          <a:xfrm>
            <a:off x="384120" y="1005840"/>
            <a:ext cx="4936680" cy="255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Потерялся ребёнок.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Решать — вам.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ru-RU" sz="14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Поезд идёт 300 км/ч. Голосовое из 3-го вагона: девочка лет пяти потеряла маму. На решение — 15 секунд. Проводник ВСМ должен быть к этому готов.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21;p 1"/>
          <p:cNvPicPr/>
          <p:nvPr/>
        </p:nvPicPr>
        <p:blipFill>
          <a:blip r:embed="rId2"/>
          <a:stretch/>
        </p:blipFill>
        <p:spPr>
          <a:xfrm>
            <a:off x="180000" y="4671720"/>
            <a:ext cx="2450880" cy="36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1"/>
          <p:cNvSpPr/>
          <p:nvPr/>
        </p:nvSpPr>
        <p:spPr>
          <a:xfrm>
            <a:off x="38412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ЗАДАЧА КЕЙСА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2"/>
          <p:cNvSpPr/>
          <p:nvPr/>
        </p:nvSpPr>
        <p:spPr>
          <a:xfrm>
            <a:off x="384120" y="1005840"/>
            <a:ext cx="3565080" cy="32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Лекции и тесты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не учат решать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за секунды.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Нужна среда, где проводник отрабатывает нештатные ситуации под таймером и видит последствия каждого решения.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3"/>
          <p:cNvSpPr/>
          <p:nvPr/>
        </p:nvSpPr>
        <p:spPr>
          <a:xfrm>
            <a:off x="4160520" y="45720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01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Стресс и дефицит времени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Классическое обучение не тренирует решения под давлением.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4"/>
          <p:cNvSpPr/>
          <p:nvPr/>
        </p:nvSpPr>
        <p:spPr>
          <a:xfrm>
            <a:off x="6537960" y="45720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02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Нет безопасной среды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Нештатную ситуацию не отрепетируешь на живых пассажирах.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5"/>
          <p:cNvSpPr/>
          <p:nvPr/>
        </p:nvSpPr>
        <p:spPr>
          <a:xfrm>
            <a:off x="4160520" y="242316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03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Soft skills сложно оценить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Как объективно измерить, что проводник поступил правильно?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6"/>
          <p:cNvSpPr/>
          <p:nvPr/>
        </p:nvSpPr>
        <p:spPr>
          <a:xfrm>
            <a:off x="6537960" y="242316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04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Низкая мотивация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Постоянное развитие без азарта превращается в обязаловку.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8"/>
          <p:cNvSpPr/>
          <p:nvPr/>
        </p:nvSpPr>
        <p:spPr>
          <a:xfrm>
            <a:off x="5760720" y="0"/>
            <a:ext cx="3382200" cy="514260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Rectangle 11"/>
          <p:cNvSpPr/>
          <p:nvPr/>
        </p:nvSpPr>
        <p:spPr>
          <a:xfrm>
            <a:off x="5330880" y="401436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Rectangle 12"/>
          <p:cNvSpPr/>
          <p:nvPr/>
        </p:nvSpPr>
        <p:spPr>
          <a:xfrm>
            <a:off x="4902120" y="360000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13"/>
          <p:cNvSpPr/>
          <p:nvPr/>
        </p:nvSpPr>
        <p:spPr>
          <a:xfrm>
            <a:off x="4472640" y="40114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Rounded Rectangle 38"/>
          <p:cNvSpPr/>
          <p:nvPr/>
        </p:nvSpPr>
        <p:spPr>
          <a:xfrm>
            <a:off x="160920" y="244080"/>
            <a:ext cx="868320" cy="868320"/>
          </a:xfrm>
          <a:prstGeom prst="roundRect">
            <a:avLst>
              <a:gd name="adj" fmla="val 22000"/>
            </a:avLst>
          </a:prstGeom>
          <a:solidFill>
            <a:srgbClr val="1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Freeform 1"/>
          <p:cNvSpPr/>
          <p:nvPr/>
        </p:nvSpPr>
        <p:spPr>
          <a:xfrm>
            <a:off x="334440" y="461160"/>
            <a:ext cx="542520" cy="325440"/>
          </a:xfrm>
          <a:custGeom>
            <a:avLst/>
            <a:gdLst>
              <a:gd name="textAreaLeft" fmla="*/ 0 w 542520"/>
              <a:gd name="textAreaRight" fmla="*/ 542880 w 542520"/>
              <a:gd name="textAreaTop" fmla="*/ 0 h 325440"/>
              <a:gd name="textAreaBottom" fmla="*/ 325800 h 325440"/>
            </a:gdLst>
            <a:ahLst/>
            <a:cxnLst/>
            <a:rect l="textAreaLeft" t="textAreaTop" r="textAreaRight" b="textAreaBottom"/>
            <a:pathLst>
              <a:path w="542925" h="325755">
                <a:moveTo>
                  <a:pt x="0" y="325755"/>
                </a:moveTo>
                <a:lnTo>
                  <a:pt x="282321" y="0"/>
                </a:lnTo>
                <a:lnTo>
                  <a:pt x="542925" y="0"/>
                </a:lnTo>
                <a:lnTo>
                  <a:pt x="260604" y="325755"/>
                </a:lnTo>
                <a:close/>
              </a:path>
            </a:pathLst>
          </a:custGeom>
          <a:solidFill>
            <a:srgbClr val="E2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" name="Rounded Rectangle 39"/>
          <p:cNvSpPr/>
          <p:nvPr/>
        </p:nvSpPr>
        <p:spPr>
          <a:xfrm>
            <a:off x="334440" y="878040"/>
            <a:ext cx="520920" cy="56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4680" rIns="90000" bIns="-468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" name="TextBox 13"/>
          <p:cNvSpPr/>
          <p:nvPr/>
        </p:nvSpPr>
        <p:spPr>
          <a:xfrm>
            <a:off x="1194120" y="180000"/>
            <a:ext cx="42058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Box 14"/>
          <p:cNvSpPr/>
          <p:nvPr/>
        </p:nvSpPr>
        <p:spPr>
          <a:xfrm>
            <a:off x="274680" y="1582920"/>
            <a:ext cx="4937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для проводников ВСМ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200"/>
              </a:spcBef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Команда «Кокаманы» · трек «Геймификация для ВСМ» · Хакатон Московского транспорта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Picture 2" descr="ph_home.png"/>
          <p:cNvPicPr/>
          <p:nvPr/>
        </p:nvPicPr>
        <p:blipFill>
          <a:blip r:embed="rId1"/>
          <a:stretch/>
        </p:blipFill>
        <p:spPr>
          <a:xfrm>
            <a:off x="6568560" y="311040"/>
            <a:ext cx="2163960" cy="452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" name="Google Shape;21;p 3"/>
          <p:cNvPicPr/>
          <p:nvPr/>
        </p:nvPicPr>
        <p:blipFill>
          <a:blip r:embed="rId2"/>
          <a:stretch/>
        </p:blipFill>
        <p:spPr>
          <a:xfrm>
            <a:off x="180000" y="4671720"/>
            <a:ext cx="2450880" cy="36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4931280" y="-180000"/>
            <a:ext cx="4212000" cy="532260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4501800" y="40294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Rectangle 3"/>
          <p:cNvSpPr/>
          <p:nvPr/>
        </p:nvSpPr>
        <p:spPr>
          <a:xfrm>
            <a:off x="4071960" y="360000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4" descr="ph_choice.png"/>
          <p:cNvPicPr/>
          <p:nvPr/>
        </p:nvPicPr>
        <p:blipFill>
          <a:blip r:embed="rId1"/>
          <a:stretch/>
        </p:blipFill>
        <p:spPr>
          <a:xfrm>
            <a:off x="5095080" y="530280"/>
            <a:ext cx="1944720" cy="406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Picture 5" descr="ph_feedback.png"/>
          <p:cNvPicPr/>
          <p:nvPr/>
        </p:nvPicPr>
        <p:blipFill>
          <a:blip r:embed="rId2"/>
          <a:stretch/>
        </p:blipFill>
        <p:spPr>
          <a:xfrm>
            <a:off x="7092000" y="530280"/>
            <a:ext cx="1944720" cy="406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Rounded Rectangle 6"/>
          <p:cNvSpPr/>
          <p:nvPr/>
        </p:nvSpPr>
        <p:spPr>
          <a:xfrm>
            <a:off x="384120" y="502920"/>
            <a:ext cx="262332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РЕЙС «ДВОЕ НА ОДНОМ МЕСТЕ»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7"/>
          <p:cNvSpPr/>
          <p:nvPr/>
        </p:nvSpPr>
        <p:spPr>
          <a:xfrm>
            <a:off x="384120" y="1005840"/>
            <a:ext cx="3656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Решение —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под таймером.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Нелинейный диалог: каждое решение ведёт в свою ветку. Истекло время — срабатывает ветка с последствиями.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5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Таймер 10–25 с </a:t>
            </a: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на критическое решение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Ошибка: падение лояльности пассажира с 60 до 45, </a:t>
            </a: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риск жалобы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" name="Google Shape;21;p 2"/>
          <p:cNvPicPr/>
          <p:nvPr/>
        </p:nvPicPr>
        <p:blipFill>
          <a:blip r:embed="rId3"/>
          <a:stretch/>
        </p:blipFill>
        <p:spPr>
          <a:xfrm>
            <a:off x="69120" y="4671720"/>
            <a:ext cx="2450880" cy="36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1"/>
          <p:cNvSpPr/>
          <p:nvPr/>
        </p:nvSpPr>
        <p:spPr>
          <a:xfrm>
            <a:off x="5961960" y="219600"/>
            <a:ext cx="2970720" cy="3994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Rectangle 2"/>
          <p:cNvSpPr/>
          <p:nvPr/>
        </p:nvSpPr>
        <p:spPr>
          <a:xfrm>
            <a:off x="5532120" y="4215240"/>
            <a:ext cx="428760" cy="428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ectangle 3"/>
          <p:cNvSpPr/>
          <p:nvPr/>
        </p:nvSpPr>
        <p:spPr>
          <a:xfrm>
            <a:off x="5102280" y="3813120"/>
            <a:ext cx="428760" cy="428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Picture 4" descr="ph_end.png"/>
          <p:cNvPicPr/>
          <p:nvPr/>
        </p:nvPicPr>
        <p:blipFill>
          <a:blip r:embed="rId1"/>
          <a:stretch/>
        </p:blipFill>
        <p:spPr>
          <a:xfrm>
            <a:off x="6540480" y="320040"/>
            <a:ext cx="1813320" cy="37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Rounded Rectangle 5"/>
          <p:cNvSpPr/>
          <p:nvPr/>
        </p:nvSpPr>
        <p:spPr>
          <a:xfrm>
            <a:off x="384120" y="502920"/>
            <a:ext cx="14940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ДВОЙНАЯ ШКАЛА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384120" y="1005840"/>
            <a:ext cx="49366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Лояльность пассажира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 безопасность.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7"/>
          <p:cNvSpPr/>
          <p:nvPr/>
        </p:nvSpPr>
        <p:spPr>
          <a:xfrm>
            <a:off x="384120" y="2103120"/>
            <a:ext cx="409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Лояльность пассажира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3566160" y="21031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85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ounded Rectangle 9"/>
          <p:cNvSpPr/>
          <p:nvPr/>
        </p:nvSpPr>
        <p:spPr>
          <a:xfrm>
            <a:off x="384120" y="2432160"/>
            <a:ext cx="4095360" cy="9036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10"/>
          <p:cNvSpPr/>
          <p:nvPr/>
        </p:nvSpPr>
        <p:spPr>
          <a:xfrm>
            <a:off x="384120" y="2432160"/>
            <a:ext cx="3480840" cy="90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384120" y="2670120"/>
            <a:ext cx="409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Рейтинг безопасности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3566160" y="26701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85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13"/>
          <p:cNvSpPr/>
          <p:nvPr/>
        </p:nvSpPr>
        <p:spPr>
          <a:xfrm>
            <a:off x="384120" y="2999160"/>
            <a:ext cx="4095360" cy="9036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/>
          <p:cNvSpPr/>
          <p:nvPr/>
        </p:nvSpPr>
        <p:spPr>
          <a:xfrm>
            <a:off x="384120" y="2999160"/>
            <a:ext cx="3480840" cy="90360"/>
          </a:xfrm>
          <a:prstGeom prst="roundRect">
            <a:avLst>
              <a:gd name="adj" fmla="val 50000"/>
            </a:avLst>
          </a:prstGeom>
          <a:solidFill>
            <a:srgbClr val="9FC5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384120" y="3291840"/>
            <a:ext cx="50281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После рейса — разбор каждого решения: что пошло не так, как было правильно и кого звать. Не просто «верно / неверно».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+142 </a:t>
            </a: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очка компетенций за рейс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ounded Rectangle 1"/>
          <p:cNvSpPr/>
          <p:nvPr/>
        </p:nvSpPr>
        <p:spPr>
          <a:xfrm>
            <a:off x="384120" y="502920"/>
            <a:ext cx="11466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СПЕЦИВЕНТ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384120" y="1005840"/>
            <a:ext cx="411372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Посреди смены —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внезапный вызов.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800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Голосовое сообщение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учимся воспринимать информацию на слух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Хард-уровень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голосовое на английском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Свободный ответ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оценивает ИИ-наставник по регламенту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Руководитель запускает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для всех или выбранных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3"/>
          <p:cNvSpPr/>
          <p:nvPr/>
        </p:nvSpPr>
        <p:spPr>
          <a:xfrm>
            <a:off x="4846320" y="502920"/>
            <a:ext cx="3930840" cy="164484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18288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ВЫЗОВ ОТ РУКОВОДИТЕЛЯ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Hard: голосовое на английском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4"/>
          <p:cNvSpPr/>
          <p:nvPr/>
        </p:nvSpPr>
        <p:spPr>
          <a:xfrm>
            <a:off x="5074920" y="1508760"/>
            <a:ext cx="3473640" cy="45612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Oval 5"/>
          <p:cNvSpPr/>
          <p:nvPr/>
        </p:nvSpPr>
        <p:spPr>
          <a:xfrm>
            <a:off x="5129640" y="1554480"/>
            <a:ext cx="364680" cy="364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520" tIns="128880" rIns="182520" bIns="1288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Isosceles Triangle 6"/>
          <p:cNvSpPr/>
          <p:nvPr/>
        </p:nvSpPr>
        <p:spPr>
          <a:xfrm rot="5400000">
            <a:off x="5258880" y="1645920"/>
            <a:ext cx="145080" cy="181800"/>
          </a:xfrm>
          <a:prstGeom prst="triangle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7"/>
          <p:cNvSpPr/>
          <p:nvPr/>
        </p:nvSpPr>
        <p:spPr>
          <a:xfrm>
            <a:off x="56692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8"/>
          <p:cNvSpPr/>
          <p:nvPr/>
        </p:nvSpPr>
        <p:spPr>
          <a:xfrm>
            <a:off x="576720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9"/>
          <p:cNvSpPr/>
          <p:nvPr/>
        </p:nvSpPr>
        <p:spPr>
          <a:xfrm>
            <a:off x="586512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10"/>
          <p:cNvSpPr/>
          <p:nvPr/>
        </p:nvSpPr>
        <p:spPr>
          <a:xfrm>
            <a:off x="59626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11"/>
          <p:cNvSpPr/>
          <p:nvPr/>
        </p:nvSpPr>
        <p:spPr>
          <a:xfrm>
            <a:off x="606060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2"/>
          <p:cNvSpPr/>
          <p:nvPr/>
        </p:nvSpPr>
        <p:spPr>
          <a:xfrm>
            <a:off x="615852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13"/>
          <p:cNvSpPr/>
          <p:nvPr/>
        </p:nvSpPr>
        <p:spPr>
          <a:xfrm>
            <a:off x="625644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14"/>
          <p:cNvSpPr/>
          <p:nvPr/>
        </p:nvSpPr>
        <p:spPr>
          <a:xfrm>
            <a:off x="6354000" y="1710000"/>
            <a:ext cx="44640" cy="53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20160" rIns="22320" bIns="20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15"/>
          <p:cNvSpPr/>
          <p:nvPr/>
        </p:nvSpPr>
        <p:spPr>
          <a:xfrm>
            <a:off x="645192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6"/>
          <p:cNvSpPr/>
          <p:nvPr/>
        </p:nvSpPr>
        <p:spPr>
          <a:xfrm>
            <a:off x="654984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17"/>
          <p:cNvSpPr/>
          <p:nvPr/>
        </p:nvSpPr>
        <p:spPr>
          <a:xfrm>
            <a:off x="664776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18"/>
          <p:cNvSpPr/>
          <p:nvPr/>
        </p:nvSpPr>
        <p:spPr>
          <a:xfrm>
            <a:off x="67456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19"/>
          <p:cNvSpPr/>
          <p:nvPr/>
        </p:nvSpPr>
        <p:spPr>
          <a:xfrm>
            <a:off x="684324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20"/>
          <p:cNvSpPr/>
          <p:nvPr/>
        </p:nvSpPr>
        <p:spPr>
          <a:xfrm>
            <a:off x="694116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21"/>
          <p:cNvSpPr/>
          <p:nvPr/>
        </p:nvSpPr>
        <p:spPr>
          <a:xfrm>
            <a:off x="70390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22"/>
          <p:cNvSpPr/>
          <p:nvPr/>
        </p:nvSpPr>
        <p:spPr>
          <a:xfrm>
            <a:off x="713700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23"/>
          <p:cNvSpPr/>
          <p:nvPr/>
        </p:nvSpPr>
        <p:spPr>
          <a:xfrm>
            <a:off x="723456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24"/>
          <p:cNvSpPr/>
          <p:nvPr/>
        </p:nvSpPr>
        <p:spPr>
          <a:xfrm>
            <a:off x="733248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25"/>
          <p:cNvSpPr/>
          <p:nvPr/>
        </p:nvSpPr>
        <p:spPr>
          <a:xfrm>
            <a:off x="7430400" y="1710000"/>
            <a:ext cx="44640" cy="53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20160" rIns="22320" bIns="20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26"/>
          <p:cNvSpPr/>
          <p:nvPr/>
        </p:nvSpPr>
        <p:spPr>
          <a:xfrm>
            <a:off x="752832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27"/>
          <p:cNvSpPr/>
          <p:nvPr/>
        </p:nvSpPr>
        <p:spPr>
          <a:xfrm>
            <a:off x="762624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28"/>
          <p:cNvSpPr/>
          <p:nvPr/>
        </p:nvSpPr>
        <p:spPr>
          <a:xfrm>
            <a:off x="772380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29"/>
          <p:cNvSpPr/>
          <p:nvPr/>
        </p:nvSpPr>
        <p:spPr>
          <a:xfrm>
            <a:off x="782172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30"/>
          <p:cNvSpPr/>
          <p:nvPr/>
        </p:nvSpPr>
        <p:spPr>
          <a:xfrm>
            <a:off x="791964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31"/>
          <p:cNvSpPr/>
          <p:nvPr/>
        </p:nvSpPr>
        <p:spPr>
          <a:xfrm>
            <a:off x="801756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32"/>
          <p:cNvSpPr/>
          <p:nvPr/>
        </p:nvSpPr>
        <p:spPr>
          <a:xfrm>
            <a:off x="81154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33"/>
          <p:cNvSpPr/>
          <p:nvPr/>
        </p:nvSpPr>
        <p:spPr>
          <a:xfrm>
            <a:off x="821304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34"/>
          <p:cNvSpPr/>
          <p:nvPr/>
        </p:nvSpPr>
        <p:spPr>
          <a:xfrm>
            <a:off x="831096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35"/>
          <p:cNvSpPr/>
          <p:nvPr/>
        </p:nvSpPr>
        <p:spPr>
          <a:xfrm>
            <a:off x="4846320" y="2331720"/>
            <a:ext cx="3930840" cy="159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22860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900" b="0" u="none" strike="noStrike">
                <a:solidFill>
                  <a:srgbClr val="5B6673"/>
                </a:solidFill>
                <a:effectLst/>
                <a:uFillTx/>
                <a:latin typeface="Moscow Sans Regular"/>
                <a:ea typeface="Moscow Sans Regular"/>
              </a:rPr>
              <a:t>ВАШ ОТВЕТ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Please stay calm, I am here to help. I'm sorry, we can't give medicine, but the train manager is coming and we will find a doctor.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8357760" y="32004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2"/>
          <p:cNvSpPr/>
          <p:nvPr/>
        </p:nvSpPr>
        <p:spPr>
          <a:xfrm>
            <a:off x="38412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РАЗ В НЕДЕЛЮ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384120" y="1005840"/>
            <a:ext cx="45709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Турнир недели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Все заходят одновременно и отвечают на время. Решают точность и скорость.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384120" y="2834640"/>
            <a:ext cx="1004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10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вопросов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1508760" y="2834640"/>
            <a:ext cx="1187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15 с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на ответ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2834640" y="2834640"/>
            <a:ext cx="2102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Топ-10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трофей и +100 очков компетенций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Picture 7" descr="ph_tournament.png"/>
          <p:cNvPicPr/>
          <p:nvPr/>
        </p:nvPicPr>
        <p:blipFill>
          <a:blip r:embed="rId1"/>
          <a:stretch/>
        </p:blipFill>
        <p:spPr>
          <a:xfrm>
            <a:off x="5669280" y="502920"/>
            <a:ext cx="1857240" cy="38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ounded Rectangle 1"/>
          <p:cNvSpPr/>
          <p:nvPr/>
        </p:nvSpPr>
        <p:spPr>
          <a:xfrm>
            <a:off x="384120" y="502920"/>
            <a:ext cx="18414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ПРОФИЛЬ И РЕЙТИНГ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384120" y="1005840"/>
            <a:ext cx="4433760" cy="34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Прогресс виден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каждый день.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5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 уровней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от «Стажёра» до «Легенды магистрали»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14 ачивок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и турнирные трофеи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Рейтинг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по компании, депо и бригаде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Адаптивная сложность: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следующий рейс — по слабым местам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Уведомления: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новые сценарии, турнир, «рейтинг скоро обнулится»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Picture 3" descr="ph_leaderboard.png"/>
          <p:cNvPicPr/>
          <p:nvPr/>
        </p:nvPicPr>
        <p:blipFill>
          <a:blip r:embed="rId1"/>
          <a:stretch/>
        </p:blipFill>
        <p:spPr>
          <a:xfrm>
            <a:off x="5074920" y="411480"/>
            <a:ext cx="1791720" cy="374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4" descr="ph_profile.png"/>
          <p:cNvPicPr/>
          <p:nvPr/>
        </p:nvPicPr>
        <p:blipFill>
          <a:blip r:embed="rId2"/>
          <a:stretch/>
        </p:blipFill>
        <p:spPr>
          <a:xfrm>
            <a:off x="7004880" y="411480"/>
            <a:ext cx="1791720" cy="374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" descr="br_employees.png"/>
          <p:cNvPicPr/>
          <p:nvPr/>
        </p:nvPicPr>
        <p:blipFill>
          <a:blip r:embed="rId1"/>
          <a:stretch/>
        </p:blipFill>
        <p:spPr>
          <a:xfrm>
            <a:off x="384120" y="502920"/>
            <a:ext cx="5576760" cy="368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Rounded Rectangle 2"/>
          <p:cNvSpPr/>
          <p:nvPr/>
        </p:nvSpPr>
        <p:spPr>
          <a:xfrm>
            <a:off x="1535760" y="1604520"/>
            <a:ext cx="4266000" cy="24984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10520" rIns="182880" bIns="11052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4"/>
          <p:cNvSpPr/>
          <p:nvPr/>
        </p:nvSpPr>
        <p:spPr>
          <a:xfrm>
            <a:off x="6263640" y="502920"/>
            <a:ext cx="18414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РУКОВОДИТЕЛЬ И HR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5"/>
          <p:cNvSpPr/>
          <p:nvPr/>
        </p:nvSpPr>
        <p:spPr>
          <a:xfrm>
            <a:off x="6263640" y="1005840"/>
            <a:ext cx="255924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Видно,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кому нужна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помощь.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Дашборд активности, частые ошибки, карточки сотрудников и готовность к повышению. Отчёты для HR — в Excel и JSON.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ounded Rectangle 1"/>
          <p:cNvSpPr/>
          <p:nvPr/>
        </p:nvSpPr>
        <p:spPr>
          <a:xfrm>
            <a:off x="38412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ИИ-АССИСТЕНТ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384120" y="1005840"/>
            <a:ext cx="310788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Спросите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обычными словами.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3"/>
          <p:cNvSpPr/>
          <p:nvPr/>
        </p:nvSpPr>
        <p:spPr>
          <a:xfrm>
            <a:off x="384120" y="2788920"/>
            <a:ext cx="3016440" cy="109620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09800" rIns="182880" bIns="109800" anchor="ctr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«Покажи всех проводников, у кого упал рейтинг безопасности за месяц»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Picture 4" descr="br_assistant.png"/>
          <p:cNvPicPr/>
          <p:nvPr/>
        </p:nvPicPr>
        <p:blipFill>
          <a:blip r:embed="rId1"/>
          <a:stretch/>
        </p:blipFill>
        <p:spPr>
          <a:xfrm>
            <a:off x="3703320" y="502920"/>
            <a:ext cx="5073840" cy="334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Box 5"/>
          <p:cNvSpPr/>
          <p:nvPr/>
        </p:nvSpPr>
        <p:spPr>
          <a:xfrm>
            <a:off x="3703320" y="3989520"/>
            <a:ext cx="50738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Ответ строится по текущим данным · GigaChat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" descr="br_generator.png"/>
          <p:cNvPicPr/>
          <p:nvPr/>
        </p:nvPicPr>
        <p:blipFill>
          <a:blip r:embed="rId1"/>
          <a:stretch/>
        </p:blipFill>
        <p:spPr>
          <a:xfrm>
            <a:off x="384120" y="384120"/>
            <a:ext cx="5256720" cy="38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Rounded Rectangle 2"/>
          <p:cNvSpPr/>
          <p:nvPr/>
        </p:nvSpPr>
        <p:spPr>
          <a:xfrm>
            <a:off x="603504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ГЕНЕРАЦИЯ ИИ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6035040" y="1005840"/>
            <a:ext cx="27421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Сценарий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из ТЗ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инструктора.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ИИ собирает черновик ветвящегося сценария: реплики, варианты ответа, таймеры и влияние на шкалы. Инструктор правит его в редакторе графа и публикует — без правки кода.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384120" y="27432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Модульно, с открытым API.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384120" y="100584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ВХОД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3"/>
          <p:cNvSpPr/>
          <p:nvPr/>
        </p:nvSpPr>
        <p:spPr>
          <a:xfrm>
            <a:off x="1828800" y="100584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Web view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браузер или встраивание в приложение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4"/>
          <p:cNvSpPr/>
          <p:nvPr/>
        </p:nvSpPr>
        <p:spPr>
          <a:xfrm>
            <a:off x="1956960" y="114300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Picture 5" descr="devices.png"/>
          <p:cNvPicPr/>
          <p:nvPr/>
        </p:nvPicPr>
        <p:blipFill>
          <a:blip r:embed="rId1"/>
          <a:stretch/>
        </p:blipFill>
        <p:spPr>
          <a:xfrm>
            <a:off x="2011680" y="119772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Rounded Rectangle 6"/>
          <p:cNvSpPr/>
          <p:nvPr/>
        </p:nvSpPr>
        <p:spPr>
          <a:xfrm>
            <a:off x="5367600" y="100584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Caddy · nginx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HTTPS, статика, прокси API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7"/>
          <p:cNvSpPr/>
          <p:nvPr/>
        </p:nvSpPr>
        <p:spPr>
          <a:xfrm>
            <a:off x="5495400" y="114300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8" name="Picture 8" descr="caddy.png"/>
          <p:cNvPicPr/>
          <p:nvPr/>
        </p:nvPicPr>
        <p:blipFill>
          <a:blip r:embed="rId2"/>
          <a:stretch/>
        </p:blipFill>
        <p:spPr>
          <a:xfrm>
            <a:off x="5550480" y="119772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TextBox 9"/>
          <p:cNvSpPr/>
          <p:nvPr/>
        </p:nvSpPr>
        <p:spPr>
          <a:xfrm>
            <a:off x="384120" y="175572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ПРИЛОЖЕНИЕ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0"/>
          <p:cNvSpPr/>
          <p:nvPr/>
        </p:nvSpPr>
        <p:spPr>
          <a:xfrm>
            <a:off x="1828800" y="1755720"/>
            <a:ext cx="223020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React 18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TypeScript · Vite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11"/>
          <p:cNvSpPr/>
          <p:nvPr/>
        </p:nvSpPr>
        <p:spPr>
          <a:xfrm>
            <a:off x="1956960" y="18928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" name="Picture 12" descr="react.png"/>
          <p:cNvPicPr/>
          <p:nvPr/>
        </p:nvPicPr>
        <p:blipFill>
          <a:blip r:embed="rId3"/>
          <a:stretch/>
        </p:blipFill>
        <p:spPr>
          <a:xfrm>
            <a:off x="2011680" y="194760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Rounded Rectangle 13"/>
          <p:cNvSpPr/>
          <p:nvPr/>
        </p:nvSpPr>
        <p:spPr>
          <a:xfrm>
            <a:off x="4187880" y="1755720"/>
            <a:ext cx="2230200" cy="620640"/>
          </a:xfrm>
          <a:prstGeom prst="roundRect">
            <a:avLst>
              <a:gd name="adj" fmla="val 12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FastAPI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сценарии, очки, API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14"/>
          <p:cNvSpPr/>
          <p:nvPr/>
        </p:nvSpPr>
        <p:spPr>
          <a:xfrm>
            <a:off x="4316040" y="18928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15" descr="fastapi.png"/>
          <p:cNvPicPr/>
          <p:nvPr/>
        </p:nvPicPr>
        <p:blipFill>
          <a:blip r:embed="rId4"/>
          <a:stretch/>
        </p:blipFill>
        <p:spPr>
          <a:xfrm>
            <a:off x="4370760" y="194760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ounded Rectangle 16"/>
          <p:cNvSpPr/>
          <p:nvPr/>
        </p:nvSpPr>
        <p:spPr>
          <a:xfrm>
            <a:off x="6546960" y="1755720"/>
            <a:ext cx="2230200" cy="620640"/>
          </a:xfrm>
          <a:prstGeom prst="roundRect">
            <a:avLst>
              <a:gd name="adj" fmla="val 12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GigaChat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оценка и генерация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17"/>
          <p:cNvSpPr/>
          <p:nvPr/>
        </p:nvSpPr>
        <p:spPr>
          <a:xfrm>
            <a:off x="6675120" y="18928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" name="Picture 18" descr="gigachat.png"/>
          <p:cNvPicPr/>
          <p:nvPr/>
        </p:nvPicPr>
        <p:blipFill>
          <a:blip r:embed="rId5"/>
          <a:stretch/>
        </p:blipFill>
        <p:spPr>
          <a:xfrm>
            <a:off x="6729840" y="194760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19"/>
          <p:cNvSpPr/>
          <p:nvPr/>
        </p:nvSpPr>
        <p:spPr>
          <a:xfrm>
            <a:off x="384120" y="250560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ДАННЫЕ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20"/>
          <p:cNvSpPr/>
          <p:nvPr/>
        </p:nvSpPr>
        <p:spPr>
          <a:xfrm>
            <a:off x="1828800" y="250560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PostgreSQL 17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сотрудники, сценарии, прогресс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21"/>
          <p:cNvSpPr/>
          <p:nvPr/>
        </p:nvSpPr>
        <p:spPr>
          <a:xfrm>
            <a:off x="1956960" y="264276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22" descr="postgresql.png"/>
          <p:cNvPicPr/>
          <p:nvPr/>
        </p:nvPicPr>
        <p:blipFill>
          <a:blip r:embed="rId6"/>
          <a:stretch/>
        </p:blipFill>
        <p:spPr>
          <a:xfrm>
            <a:off x="2011680" y="269748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Rounded Rectangle 23"/>
          <p:cNvSpPr/>
          <p:nvPr/>
        </p:nvSpPr>
        <p:spPr>
          <a:xfrm>
            <a:off x="5367600" y="250560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Valkey 8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турнир онлайн, специвенты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24"/>
          <p:cNvSpPr/>
          <p:nvPr/>
        </p:nvSpPr>
        <p:spPr>
          <a:xfrm>
            <a:off x="5495400" y="264276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5" name="Picture 25" descr="valkey.png"/>
          <p:cNvPicPr/>
          <p:nvPr/>
        </p:nvPicPr>
        <p:blipFill>
          <a:blip r:embed="rId7"/>
          <a:stretch/>
        </p:blipFill>
        <p:spPr>
          <a:xfrm>
            <a:off x="5550480" y="269748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26"/>
          <p:cNvSpPr/>
          <p:nvPr/>
        </p:nvSpPr>
        <p:spPr>
          <a:xfrm>
            <a:off x="384120" y="325512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НАБЛЮДАЕМОСТЬ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18288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Prometheus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метрики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195696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29" descr="prometheus.png"/>
          <p:cNvPicPr/>
          <p:nvPr/>
        </p:nvPicPr>
        <p:blipFill>
          <a:blip r:embed="rId8"/>
          <a:stretch/>
        </p:blipFill>
        <p:spPr>
          <a:xfrm>
            <a:off x="20116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ounded Rectangle 30"/>
          <p:cNvSpPr/>
          <p:nvPr/>
        </p:nvSpPr>
        <p:spPr>
          <a:xfrm>
            <a:off x="35982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Loki · Alloy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логи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31"/>
          <p:cNvSpPr/>
          <p:nvPr/>
        </p:nvSpPr>
        <p:spPr>
          <a:xfrm>
            <a:off x="372636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Picture 32" descr="loki.png"/>
          <p:cNvPicPr/>
          <p:nvPr/>
        </p:nvPicPr>
        <p:blipFill>
          <a:blip r:embed="rId9"/>
          <a:stretch/>
        </p:blipFill>
        <p:spPr>
          <a:xfrm>
            <a:off x="37810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Rounded Rectangle 33"/>
          <p:cNvSpPr/>
          <p:nvPr/>
        </p:nvSpPr>
        <p:spPr>
          <a:xfrm>
            <a:off x="53676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Grafana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дашборды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34"/>
          <p:cNvSpPr/>
          <p:nvPr/>
        </p:nvSpPr>
        <p:spPr>
          <a:xfrm>
            <a:off x="549540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Picture 35" descr="grafana.png"/>
          <p:cNvPicPr/>
          <p:nvPr/>
        </p:nvPicPr>
        <p:blipFill>
          <a:blip r:embed="rId10"/>
          <a:stretch/>
        </p:blipFill>
        <p:spPr>
          <a:xfrm>
            <a:off x="55504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Rounded Rectangle 36"/>
          <p:cNvSpPr/>
          <p:nvPr/>
        </p:nvSpPr>
        <p:spPr>
          <a:xfrm>
            <a:off x="71370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pgAdmin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доступ к БД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37"/>
          <p:cNvSpPr/>
          <p:nvPr/>
        </p:nvSpPr>
        <p:spPr>
          <a:xfrm>
            <a:off x="726480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38" descr="pgadmin.png"/>
          <p:cNvPicPr/>
          <p:nvPr/>
        </p:nvPicPr>
        <p:blipFill>
          <a:blip r:embed="rId11"/>
          <a:stretch/>
        </p:blipFill>
        <p:spPr>
          <a:xfrm>
            <a:off x="73198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Box 39"/>
          <p:cNvSpPr/>
          <p:nvPr/>
        </p:nvSpPr>
        <p:spPr>
          <a:xfrm>
            <a:off x="384120" y="406908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Swagger / OpenAPI  ·  JSON и Excel для HR/LMS  ·  Docker Compose  ·  CI/CD → VPS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1"/>
          <p:cNvSpPr/>
          <p:nvPr/>
        </p:nvSpPr>
        <p:spPr>
          <a:xfrm>
            <a:off x="8357760" y="32004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2"/>
          <p:cNvSpPr/>
          <p:nvPr/>
        </p:nvSpPr>
        <p:spPr>
          <a:xfrm>
            <a:off x="384120" y="502920"/>
            <a:ext cx="18414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СЛЕДУЮЩИЕ СТАНЦИИ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384120" y="1005840"/>
            <a:ext cx="54853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После хакатона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4"/>
          <p:cNvSpPr/>
          <p:nvPr/>
        </p:nvSpPr>
        <p:spPr>
          <a:xfrm>
            <a:off x="1333080" y="2014200"/>
            <a:ext cx="6516360" cy="44640"/>
          </a:xfrm>
          <a:prstGeom prst="rect">
            <a:avLst/>
          </a:prstGeom>
          <a:solidFill>
            <a:srgbClr val="9FC5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22320" rIns="182880" bIns="223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Oval 5"/>
          <p:cNvSpPr/>
          <p:nvPr/>
        </p:nvSpPr>
        <p:spPr>
          <a:xfrm>
            <a:off x="126000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6"/>
          <p:cNvSpPr/>
          <p:nvPr/>
        </p:nvSpPr>
        <p:spPr>
          <a:xfrm>
            <a:off x="38412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Контент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Валидация сценариев с экспертами ВСМ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Медиа из задания: фото, видео, аудио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Больше должностей и компетенций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Oval 7"/>
          <p:cNvSpPr/>
          <p:nvPr/>
        </p:nvSpPr>
        <p:spPr>
          <a:xfrm>
            <a:off x="338148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8"/>
          <p:cNvSpPr/>
          <p:nvPr/>
        </p:nvSpPr>
        <p:spPr>
          <a:xfrm>
            <a:off x="250560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ИИ и оценка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Калибровка рубрик на экспертной разметке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Голосовой ответ с транскрибацией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Переключение LLM-провайдеров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Oval 9"/>
          <p:cNvSpPr/>
          <p:nvPr/>
        </p:nvSpPr>
        <p:spPr>
          <a:xfrm>
            <a:off x="550260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0"/>
          <p:cNvSpPr/>
          <p:nvPr/>
        </p:nvSpPr>
        <p:spPr>
          <a:xfrm>
            <a:off x="462672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Продукт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Командные турниры бригад и депо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Лиги и сезоны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PWA поверх web view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11"/>
          <p:cNvSpPr/>
          <p:nvPr/>
        </p:nvSpPr>
        <p:spPr>
          <a:xfrm>
            <a:off x="762408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12"/>
          <p:cNvSpPr/>
          <p:nvPr/>
        </p:nvSpPr>
        <p:spPr>
          <a:xfrm>
            <a:off x="674820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Интеграции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SSO с системами ВСМ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Глубже с LMS и HR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Импорт сотрудников и учебных групп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8357760" y="32004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2"/>
          <p:cNvSpPr/>
          <p:nvPr/>
        </p:nvSpPr>
        <p:spPr>
          <a:xfrm>
            <a:off x="7927920" y="7498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3"/>
          <p:cNvSpPr/>
          <p:nvPr/>
        </p:nvSpPr>
        <p:spPr>
          <a:xfrm>
            <a:off x="384120" y="411480"/>
            <a:ext cx="73141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 для проводников ВСМ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Rounded Rectangle 4"/>
          <p:cNvSpPr/>
          <p:nvPr/>
        </p:nvSpPr>
        <p:spPr>
          <a:xfrm>
            <a:off x="384120" y="1783080"/>
            <a:ext cx="8393040" cy="251352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5"/>
          <p:cNvSpPr/>
          <p:nvPr/>
        </p:nvSpPr>
        <p:spPr>
          <a:xfrm>
            <a:off x="567000" y="1938600"/>
            <a:ext cx="2193480" cy="219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" name="Picture 6" descr="qr.png"/>
          <p:cNvPicPr/>
          <p:nvPr/>
        </p:nvPicPr>
        <p:blipFill>
          <a:blip r:embed="rId1"/>
          <a:stretch/>
        </p:blipFill>
        <p:spPr>
          <a:xfrm>
            <a:off x="658440" y="2030040"/>
            <a:ext cx="2010600" cy="201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Box 7"/>
          <p:cNvSpPr/>
          <p:nvPr/>
        </p:nvSpPr>
        <p:spPr>
          <a:xfrm>
            <a:off x="3063240" y="2011680"/>
            <a:ext cx="54853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ПОПРОБУЙТЕ ПРЯМО СЕЙЧАС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vsm-gamification</a:t>
            </a:r>
            <a:r>
              <a:rPr lang="ru-RU" sz="3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.ru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8"/>
          <p:cNvSpPr/>
          <p:nvPr/>
        </p:nvSpPr>
        <p:spPr>
          <a:xfrm>
            <a:off x="3063240" y="3200400"/>
            <a:ext cx="3656520" cy="36468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0" rIns="137160" bIns="0" anchor="ctr">
            <a:noAutofit/>
          </a:bodyPr>
          <a:p>
            <a:pPr>
              <a:lnSpc>
                <a:spcPct val="100000"/>
              </a:lnSpc>
            </a:pPr>
            <a:r>
              <a:rPr lang="ru-RU" sz="115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Проводник   </a:t>
            </a:r>
            <a:r>
              <a:rPr lang="ru-RU" sz="11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demo@m400.ru / demo123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Rounded Rectangle 9"/>
          <p:cNvSpPr/>
          <p:nvPr/>
        </p:nvSpPr>
        <p:spPr>
          <a:xfrm>
            <a:off x="3063240" y="3657600"/>
            <a:ext cx="3656520" cy="36468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0" rIns="137160" bIns="0" anchor="ctr">
            <a:noAutofit/>
          </a:bodyPr>
          <a:p>
            <a:pPr>
              <a:lnSpc>
                <a:spcPct val="100000"/>
              </a:lnSpc>
            </a:pPr>
            <a:r>
              <a:rPr lang="ru-RU" sz="115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Руководитель   </a:t>
            </a:r>
            <a:r>
              <a:rPr lang="ru-RU" sz="11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lead@m400.ru / lead123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0"/>
          <p:cNvSpPr/>
          <p:nvPr/>
        </p:nvSpPr>
        <p:spPr>
          <a:xfrm>
            <a:off x="384120" y="452628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Команда «Кокаманы» · Хакатон Московского транспорта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" name="Google Shape;21;p 4"/>
          <p:cNvPicPr/>
          <p:nvPr/>
        </p:nvPicPr>
        <p:blipFill>
          <a:blip r:embed="rId2"/>
          <a:stretch/>
        </p:blipFill>
        <p:spPr>
          <a:xfrm>
            <a:off x="6660000" y="4680000"/>
            <a:ext cx="2450880" cy="36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Application>LibreOffice/26.2.6.3$Windows_X86_64 LibreOffice_project/8221e31b3ac356a1623c672912a3d2b492f7e3d1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cp:lastPrinted>2026-10-02T15:18:36Z</cp:lastPrinted>
  <dcterms:modified xsi:type="dcterms:W3CDTF">2026-10-02T15:23:46Z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