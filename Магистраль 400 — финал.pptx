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14"/>
    <p:sldId id="258" r:id="rId13"/>
    <p:sldId id="259" r:id="rId12"/>
    <p:sldId id="260" r:id="rId11"/>
    <p:sldId id="261" r:id="rId10"/>
    <p:sldId id="262" r:id="rId9"/>
    <p:sldId id="263" r:id="rId8"/>
    <p:sldId id="264" r:id="rId7"/>
    <p:sldId id="265" r:id="rId23"/>
    <p:sldId id="266" r:id="rId24"/>
    <p:sldId id="267" r:id="rId25"/>
    <p:sldId id="268" r:id="rId26"/>
    <p:sldId id="269" r:id="rId27"/>
  </p:sldIdLst>
  <p:sldSz cy="5143500" cx="9144000"/>
  <p:notesSz cx="6858000" cy="9144000"/>
  <p:embeddedFontLst>
    <p:embeddedFont>
      <p:font typeface="Google Sans Medium"/>
      <p:regular r:id="rId15"/>
      <p:bold r:id="rId16"/>
      <p:italic r:id="rId17"/>
      <p:boldItalic r:id="rId18"/>
    </p:embeddedFont>
    <p:embeddedFont>
      <p:font typeface="Google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3.xml"/><Relationship Id="rId14" Type="http://schemas.openxmlformats.org/officeDocument/2006/relationships/slide" Target="slides/slide2.xml"/><Relationship Id="rId15" Type="http://schemas.openxmlformats.org/officeDocument/2006/relationships/font" Target="fonts/GoogleSansMedium-regular.fntdata"/><Relationship Id="rId16" Type="http://schemas.openxmlformats.org/officeDocument/2006/relationships/font" Target="fonts/GoogleSansMedium-bold.fntdata"/><Relationship Id="rId17" Type="http://schemas.openxmlformats.org/officeDocument/2006/relationships/font" Target="fonts/GoogleSansMedium-italic.fntdata"/><Relationship Id="rId18" Type="http://schemas.openxmlformats.org/officeDocument/2006/relationships/font" Target="fonts/GoogleSansMedium-boldItalic.fntdata"/><Relationship Id="rId19" Type="http://schemas.openxmlformats.org/officeDocument/2006/relationships/font" Target="fonts/GoogleSans-regular.fntdata"/><Relationship Id="rId20" Type="http://schemas.openxmlformats.org/officeDocument/2006/relationships/font" Target="fonts/GoogleSans-bold.fntdata"/><Relationship Id="rId21" Type="http://schemas.openxmlformats.org/officeDocument/2006/relationships/font" Target="fonts/GoogleSans-italic.fntdata"/><Relationship Id="rId22" Type="http://schemas.openxmlformats.org/officeDocument/2006/relationships/font" Target="fonts/GoogleSans-boldItalic.fntdata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b4e222cb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fb4e222cb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(0:25–0:40) Мы команда «Кокаманы», и это «Магистраль 400», тренажёр нештатных ситуаций для проводников ВСМ. Уровни проводника здесь — станции на линии Москва — Петербург.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(0:00–0:25) Пятница, поезд идёт 300 километров в час. Проводнику приходит голосовое от коллеги: «У меня в третьем вагоне плачет девочка лет пяти, маму потеряла, взрослых рядом нет». На решение 15 секунд. Если замешкаться, девочка уйдёт в тамбур одна.</a:t>
            </a:r>
          </a:p>
          <a:p/>
          <a:p>
            <a:r>
              <a:t>Такие ситуации не отрепетируешь на живых пассажирах. А решать их придётся.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(0:40–1:00) Кейс ставит четыре проблемы:</a:t>
            </a:r>
          </a:p>
          <a:p>
            <a:r>
              <a:t>- лекции и тесты не учат решать под давлением;</a:t>
            </a:r>
          </a:p>
          <a:p>
            <a:r>
              <a:t>- нет безопасной среды для отработки;</a:t>
            </a:r>
          </a:p>
          <a:p>
            <a:r>
              <a:t>- soft skills трудно измерить;</a:t>
            </a:r>
          </a:p>
          <a:p>
            <a:r>
              <a:t>- к постоянному обучению нет мотивации.</a:t>
            </a:r>
          </a:p>
          <a:p/>
          <a:p>
            <a:r>
              <a:t>Мы закрываем каждую.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(1:00–1:35) Контент мы не выдумывали. Все 51 ситуацию из справочника «Примеры ситуаций взаимодействия поездного персонала с пассажирами» и стандарты СТО РЖД для ВСМ мы собрали в 14 сюжетных рейсов.</a:t>
            </a:r>
          </a:p>
          <a:p/>
          <a:p>
            <a:r>
              <a:t>Вот рейс «Двое на одном месте». Пассажир занял чужое место, на решение 20 секунд. Если ответить грубо, «освободите немедленно», лояльность падает с 60 до 45, и пассажир грозит жалобой.</a:t>
            </a:r>
          </a:p>
          <a:p/>
          <a:p>
            <a:r>
              <a:t>Диалог нелинейный: каждое решение ведёт в свою ветку. Таймер не декорация. Если время вышло, срабатывает отдельная ветка с последствиями.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(1:35–2:05) Лояльность пассажира и безопасность считаются отдельно, и одно решение влияет на них по-разному. Если безопасность падает до нуля, рейс сразу заканчивается провалом: «Критический инцидент».</a:t>
            </a:r>
          </a:p>
          <a:p/>
          <a:p>
            <a:r>
              <a:t>После рейса проводник видит разбор каждого решения: что пошло не так, как было правильно и кого звать — начальника поезда, транспортную безопасность или электромеханика. Не просто «верно / неверно».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(2:05–2:30) Руководитель может посреди смены отправить экстренный вызов всем или выбранным сотрудникам. Проводник слушает голосовое и учится воспринимать информацию на слух. Хард-уровень: голосовое на английском от иностранной пассажирки.</a:t>
            </a:r>
          </a:p>
          <a:p/>
          <a:p>
            <a:r>
              <a:t>Свободный ответ оценивает ИИ-наставник по рубрике из регламента.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(2:30–2:45) Раз в неделю проходит турнир: 10 вопросов по 15 секунд, все отвечают одновременно. Топ-10 получают трофей и 100 очков компетенций.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(2:45–3:05) Цикл замкнут: действие → очки → ачивки → рейтинг → мотивация.</a:t>
            </a:r>
          </a:p>
          <a:p>
            <a:r>
              <a:t>- 8 уровней от «Стажёра» до «Легенды магистрали» и 14 ачивок.</a:t>
            </a:r>
          </a:p>
          <a:p>
            <a:r>
              <a:t>- Рейтинг по компании, депо и бригаде.</a:t>
            </a:r>
          </a:p>
          <a:p>
            <a:r>
              <a:t>- Уведомления, в том числе «недельный рейтинг скоро обнулится».</a:t>
            </a:r>
          </a:p>
          <a:p>
            <a:r>
              <a:t>- Следующий рейс система подбирает по слабым местам.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(3:05–3:25) Руководитель сразу видит, кому нужна помощь: у кого за месяц просела безопасность, кто давно не тренировался. Есть карточки сотрудников с готовностью к повышению и отчёты для HR в Excel и JSON.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(3:25–3:40) Вопрос можно задать обычными словами, например: «Покажи всех, у кого упал рейтинг безопасности». Ответ строится по живым данным.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(3:40–4:00) Инструктор описывает ситуацию своими словами, и ИИ собирает черновик ветвящегося сценария: реплики, таймеры, влияние на шкалы. Система проверяет граф, инструктор правит его в редакторе и публикует. Код трогать не нужно.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(4:00–4:30) Под капотом:</a:t>
            </a:r>
          </a:p>
          <a:p>
            <a:r>
              <a:t>- фронтенд на React;</a:t>
            </a:r>
          </a:p>
          <a:p>
            <a:r>
              <a:t>- бэкенд на FastAPI;</a:t>
            </a:r>
          </a:p>
          <a:p>
            <a:r>
              <a:t>- отдельный ML-сервис на GigaChat, а без ключей работает эвристика;</a:t>
            </a:r>
          </a:p>
          <a:p>
            <a:r>
              <a:t>- PostgreSQL и Valkey;</a:t>
            </a:r>
          </a:p>
          <a:p>
            <a:r>
              <a:t>- метрики в Prometheus, логи в Loki, дашборды в Grafana.</a:t>
            </a:r>
          </a:p>
          <a:p/>
          <a:p>
            <a:r>
              <a:t>Весь API описан в Swagger. Проект поднимается одной командой в Docker. В демо только синтетические данные, по 152-ФЗ.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(4:30–4:45) Дальше:</a:t>
            </a:r>
          </a:p>
          <a:p>
            <a:r>
              <a:t>- валидация сценариев с экспертами ВСМ;</a:t>
            </a:r>
          </a:p>
          <a:p>
            <a:r>
              <a:t>- голосовой ответ с транскрибацией;</a:t>
            </a:r>
          </a:p>
          <a:p>
            <a:r>
              <a:t>- командные турниры бригад;</a:t>
            </a:r>
          </a:p>
          <a:p>
            <a:r>
              <a:t>- SSO и интеграция с LMS.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(4:45–5:00) Всё, что вы видели, уже работает на vsm-gamification.ru. Отсканируйте QR-код, логины на экране. Спасибо, ждём ваших вопросов.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" title="190х3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2">
    <p:bg>
      <p:bgPr>
        <a:solidFill>
          <a:srgbClr val="3F6FD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 title="190х3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">
  <p:cSld name="CUSTOM_2_1">
    <p:bg>
      <p:bgPr>
        <a:solidFill>
          <a:srgbClr val="3F6FD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6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3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A123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9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150" y="453400"/>
            <a:ext cx="2452075" cy="36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9" title="Снимок экрана 2026-09-26 в 14.15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718" y="1066610"/>
            <a:ext cx="7796072" cy="250345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9"/>
          <p:cNvSpPr txBox="1"/>
          <p:nvPr/>
        </p:nvSpPr>
        <p:spPr>
          <a:xfrm>
            <a:off x="868680" y="3730752"/>
            <a:ext cx="75895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Магистраль 400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Тренажёр нештатных ситуаций для проводников ВСМ · команда «Кокаманы»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330952" y="4014215"/>
            <a:ext cx="429768" cy="4297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901184" y="3602736"/>
            <a:ext cx="429768" cy="4297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4471416" y="4014215"/>
            <a:ext cx="429768" cy="4297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6" name="Picture 5" descr="ph_emer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214" y="310896"/>
            <a:ext cx="216429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4048" y="502920"/>
            <a:ext cx="201625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F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9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ЭКСТРЕННАЯ СИТУАЦИЯ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0584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Потерялся ребёнок.</a:t>
            </a:r>
          </a:p>
          <a:p>
            <a:pPr algn="l"/>
            <a:r>
              <a:rPr sz="36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Решать — вам.</a:t>
            </a:r>
          </a:p>
          <a:p>
            <a:pPr algn="l">
              <a:spcBef>
                <a:spcPts val="1800"/>
              </a:spcBef>
            </a:pPr>
            <a:r>
              <a:rPr sz="14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Поезд идёт 300 км/ч. Голосовое из 3-го вагона: девочка лет пяти потеряла маму. На решение — 15 секунд. Проводник ВСМ должен быть к этому готов.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502920"/>
            <a:ext cx="140817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F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9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ЗАДАЧА КЕЙСА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356616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Лекции и тесты</a:t>
            </a:r>
          </a:p>
          <a:p>
            <a:pPr algn="l"/>
            <a:r>
              <a:rPr sz="28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не учат решать</a:t>
            </a:r>
          </a:p>
          <a:p>
            <a:pPr algn="l"/>
            <a:r>
              <a:rPr sz="28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за секунды.</a:t>
            </a:r>
          </a:p>
          <a:p>
            <a:pPr algn="l">
              <a:spcBef>
                <a:spcPts val="1800"/>
              </a:spcBef>
            </a:pPr>
            <a:r>
              <a:rPr sz="13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Нужна среда, где проводник отрабатывает нештатные ситуации под таймером и видит последствия каждого решения.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457200"/>
            <a:ext cx="2240280" cy="1828800"/>
          </a:xfrm>
          <a:prstGeom prst="roundRect">
            <a:avLst>
              <a:gd name="adj" fmla="val 8000"/>
            </a:avLst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64592" rIns="164592" bIns="137160">
            <a:noAutofit/>
          </a:bodyPr>
          <a:lstStyle/>
          <a:p>
            <a:pPr algn="l"/>
            <a:r>
              <a:rPr sz="1200" b="0">
                <a:solidFill>
                  <a:srgbClr val="1A1230"/>
                </a:solidFill>
                <a:latin typeface="Moscow Sans Regular"/>
                <a:ea typeface="Moscow Sans Regular"/>
                <a:cs typeface="Moscow Sans Regular"/>
              </a:rPr>
              <a:t>01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Стресс и дефицит времени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Классическое обучение не тренирует решения под давлением.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457200"/>
            <a:ext cx="2240280" cy="1828800"/>
          </a:xfrm>
          <a:prstGeom prst="roundRect">
            <a:avLst>
              <a:gd name="adj" fmla="val 8000"/>
            </a:avLst>
          </a:prstGeom>
          <a:solidFill>
            <a:srgbClr val="271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64592" rIns="164592" bIns="137160">
            <a:noAutofit/>
          </a:bodyPr>
          <a:lstStyle/>
          <a:p>
            <a:pPr algn="l"/>
            <a:r>
              <a:rPr sz="12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02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Нет безопасной среды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Нештатную ситуацию не отрепетируешь на живых пассажирах.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423160"/>
            <a:ext cx="2240280" cy="1828800"/>
          </a:xfrm>
          <a:prstGeom prst="roundRect">
            <a:avLst>
              <a:gd name="adj" fmla="val 8000"/>
            </a:avLst>
          </a:prstGeom>
          <a:solidFill>
            <a:srgbClr val="271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64592" rIns="164592" bIns="137160">
            <a:noAutofit/>
          </a:bodyPr>
          <a:lstStyle/>
          <a:p>
            <a:pPr algn="l"/>
            <a:r>
              <a:rPr sz="12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03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Soft skills сложно оценить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Как объективно измерить, что проводник поступил правильно?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423160"/>
            <a:ext cx="2240280" cy="1828800"/>
          </a:xfrm>
          <a:prstGeom prst="roundRect">
            <a:avLst>
              <a:gd name="adj" fmla="val 8000"/>
            </a:avLst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64592" rIns="164592" bIns="137160">
            <a:noAutofit/>
          </a:bodyPr>
          <a:lstStyle/>
          <a:p>
            <a:pPr algn="l"/>
            <a:r>
              <a:rPr sz="1200" b="0">
                <a:solidFill>
                  <a:srgbClr val="1A1230"/>
                </a:solidFill>
                <a:latin typeface="Moscow Sans Regular"/>
                <a:ea typeface="Moscow Sans Regular"/>
                <a:cs typeface="Moscow Sans Regular"/>
              </a:rPr>
              <a:t>04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Низкая мотивация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Постоянное развитие без азарта превращается в обязаловку.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4645152" y="4014215"/>
            <a:ext cx="429768" cy="4297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215384" y="3602736"/>
            <a:ext cx="429768" cy="4297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5" name="Picture 4" descr="ph_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204" y="530352"/>
            <a:ext cx="1945675" cy="4069080"/>
          </a:xfrm>
          <a:prstGeom prst="rect">
            <a:avLst/>
          </a:prstGeom>
        </p:spPr>
      </p:pic>
      <p:pic>
        <p:nvPicPr>
          <p:cNvPr id="6" name="Picture 5" descr="ph_fee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530352"/>
            <a:ext cx="1945675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4048" y="502920"/>
            <a:ext cx="2624328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F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9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РЕЙС «ДВОЕ НА ОДНОМ МЕСТЕ»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05840"/>
            <a:ext cx="365760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Решение —</a:t>
            </a:r>
          </a:p>
          <a:p>
            <a:pPr algn="l"/>
            <a:r>
              <a:rPr sz="34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под таймером.</a:t>
            </a:r>
          </a:p>
          <a:p>
            <a:pPr algn="l">
              <a:spcBef>
                <a:spcPts val="1600"/>
              </a:spcBef>
            </a:pPr>
            <a:r>
              <a:rPr sz="13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Нелинейный диалог: каждое решение ведёт в свою ветку. Истекло время — срабатывает ветка с последствиями.</a:t>
            </a:r>
          </a:p>
          <a:p>
            <a:pPr algn="l" marL="219456" indent="-219456">
              <a:spcBef>
                <a:spcPts val="1600"/>
              </a:spcBef>
              <a:buClr>
                <a:srgbClr val="3F6FD1"/>
              </a:buClr>
              <a:buSzPct val="70000"/>
              <a:buFont typeface="Arial"/>
              <a:buChar char="■"/>
            </a:pPr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Таймер 10–25 с </a:t>
            </a:r>
            <a:r>
              <a:rPr sz="13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на критическое решение</a:t>
            </a:r>
          </a:p>
          <a:p>
            <a:pPr algn="l" marL="219456" indent="-219456">
              <a:spcBef>
                <a:spcPts val="800"/>
              </a:spcBef>
              <a:buClr>
                <a:srgbClr val="3F6FD1"/>
              </a:buClr>
              <a:buSzPct val="70000"/>
              <a:buFont typeface="Arial"/>
              <a:buChar char="■"/>
            </a:pPr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Ошибка: пассажир 60 → 45 </a:t>
            </a:r>
            <a:r>
              <a:rPr sz="13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и грозит жалобой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61888" y="219456"/>
            <a:ext cx="2971800" cy="3995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4215384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102352" y="3813048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5" name="Picture 4" descr="ph_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35" y="320040"/>
            <a:ext cx="1814506" cy="3794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" y="502920"/>
            <a:ext cx="1495044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ДВОЙНАЯ ШКАЛА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0584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Лояльность пассажира</a:t>
            </a:r>
          </a:p>
          <a:p>
            <a:pPr algn="l"/>
            <a:r>
              <a:rPr sz="26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и безопасность.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03120"/>
            <a:ext cx="40965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Лояльность пассажира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432303"/>
            <a:ext cx="4096512" cy="91440"/>
          </a:xfrm>
          <a:prstGeom prst="roundRect">
            <a:avLst>
              <a:gd name="adj" fmla="val 50000"/>
            </a:avLst>
          </a:prstGeom>
          <a:solidFill>
            <a:srgbClr val="2E5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432303"/>
            <a:ext cx="3482035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70048"/>
            <a:ext cx="40965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Рейтинг безопасности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70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999232"/>
            <a:ext cx="4096512" cy="91440"/>
          </a:xfrm>
          <a:prstGeom prst="roundRect">
            <a:avLst>
              <a:gd name="adj" fmla="val 50000"/>
            </a:avLst>
          </a:prstGeom>
          <a:solidFill>
            <a:srgbClr val="2E5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999232"/>
            <a:ext cx="3482035" cy="91440"/>
          </a:xfrm>
          <a:prstGeom prst="roundRect">
            <a:avLst>
              <a:gd name="adj" fmla="val 50000"/>
            </a:avLst>
          </a:prstGeom>
          <a:solidFill>
            <a:srgbClr val="9F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291840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После рейса — разбор каждого решения: что пошло не так, как было правильно и кого звать. Не просто «верно / неверно».</a:t>
            </a:r>
          </a:p>
          <a:p>
            <a:pPr algn="l">
              <a:spcBef>
                <a:spcPts val="1200"/>
              </a:spcBef>
            </a:pPr>
            <a:r>
              <a:rPr sz="2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+142 </a:t>
            </a:r>
            <a:r>
              <a:rPr sz="12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очка компетенций за рейс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502920"/>
            <a:ext cx="114757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F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9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СПЕЦИВЕНТ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Посреди смены —</a:t>
            </a:r>
          </a:p>
          <a:p>
            <a:pPr algn="l"/>
            <a:r>
              <a:rPr sz="28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внезапный вызов.</a:t>
            </a:r>
          </a:p>
          <a:p>
            <a:pPr algn="l" marL="219456" indent="-219456">
              <a:spcBef>
                <a:spcPts val="1800"/>
              </a:spcBef>
              <a:buClr>
                <a:srgbClr val="3F6FD1"/>
              </a:buClr>
              <a:buSzPct val="70000"/>
              <a:buFont typeface="Arial"/>
              <a:buChar char="■"/>
            </a:pPr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Голосовое сообщение </a:t>
            </a:r>
            <a:r>
              <a:rPr sz="12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— учимся воспринимать информацию на слух</a:t>
            </a:r>
          </a:p>
          <a:p>
            <a:pPr algn="l" marL="219456" indent="-219456">
              <a:spcBef>
                <a:spcPts val="800"/>
              </a:spcBef>
              <a:buClr>
                <a:srgbClr val="3F6FD1"/>
              </a:buClr>
              <a:buSzPct val="70000"/>
              <a:buFont typeface="Arial"/>
              <a:buChar char="■"/>
            </a:pPr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Хард-уровень </a:t>
            </a:r>
            <a:r>
              <a:rPr sz="12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— голосовое на английском</a:t>
            </a:r>
          </a:p>
          <a:p>
            <a:pPr algn="l" marL="219456" indent="-219456">
              <a:spcBef>
                <a:spcPts val="800"/>
              </a:spcBef>
              <a:buClr>
                <a:srgbClr val="3F6FD1"/>
              </a:buClr>
              <a:buSzPct val="70000"/>
              <a:buFont typeface="Arial"/>
              <a:buChar char="■"/>
            </a:pPr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Свободный ответ </a:t>
            </a:r>
            <a:r>
              <a:rPr sz="12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оценивает ИИ-наставник по регламенту</a:t>
            </a:r>
          </a:p>
          <a:p>
            <a:pPr algn="l" marL="219456" indent="-219456">
              <a:spcBef>
                <a:spcPts val="800"/>
              </a:spcBef>
              <a:buClr>
                <a:srgbClr val="3F6FD1"/>
              </a:buClr>
              <a:buSzPct val="70000"/>
              <a:buFont typeface="Arial"/>
              <a:buChar char="■"/>
            </a:pPr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Руководитель запускает </a:t>
            </a:r>
            <a:r>
              <a:rPr sz="12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для всех или выбранных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502920"/>
            <a:ext cx="3931920" cy="1645920"/>
          </a:xfrm>
          <a:prstGeom prst="roundRect">
            <a:avLst>
              <a:gd name="adj" fmla="val 8000"/>
            </a:avLst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91440">
            <a:noAutofit/>
          </a:bodyPr>
          <a:lstStyle/>
          <a:p>
            <a:pPr algn="l"/>
            <a:r>
              <a:rPr sz="9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ВЫЗОВ ОТ РУКОВОДИТЕЛЯ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Hard: голосовое на английском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50876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2E5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5129784" y="15544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5257800" y="1645920"/>
            <a:ext cx="146304" cy="182880"/>
          </a:xfrm>
          <a:prstGeom prst="triangle">
            <a:avLst/>
          </a:prstGeom>
          <a:solidFill>
            <a:srgbClr val="3F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0" y="1636775"/>
            <a:ext cx="457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7120" y="1680667"/>
            <a:ext cx="45720" cy="1133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64961" y="1680667"/>
            <a:ext cx="45720" cy="1133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2802" y="1636775"/>
            <a:ext cx="457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0643" y="1695297"/>
            <a:ext cx="45720" cy="841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8484" y="1666036"/>
            <a:ext cx="45720" cy="1426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6324" y="1651406"/>
            <a:ext cx="45720" cy="17190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4165" y="1709928"/>
            <a:ext cx="45720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52006" y="1651406"/>
            <a:ext cx="45720" cy="17190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49847" y="1666036"/>
            <a:ext cx="45720" cy="1426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7688" y="1695297"/>
            <a:ext cx="45720" cy="841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5528" y="1636775"/>
            <a:ext cx="457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43369" y="1680667"/>
            <a:ext cx="45720" cy="1133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1210" y="1680667"/>
            <a:ext cx="45720" cy="1133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39051" y="1636775"/>
            <a:ext cx="457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6892" y="1695297"/>
            <a:ext cx="45720" cy="841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4732" y="1666036"/>
            <a:ext cx="45720" cy="1426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2573" y="1651406"/>
            <a:ext cx="45720" cy="17190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30414" y="1709928"/>
            <a:ext cx="45720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28255" y="1651406"/>
            <a:ext cx="45720" cy="17190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6096" y="1666036"/>
            <a:ext cx="45720" cy="1426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3936" y="1695297"/>
            <a:ext cx="45720" cy="841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21777" y="1636775"/>
            <a:ext cx="457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19618" y="1680667"/>
            <a:ext cx="45720" cy="1133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7459" y="1680667"/>
            <a:ext cx="45720" cy="1133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5300" y="1636775"/>
            <a:ext cx="457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13140" y="1695297"/>
            <a:ext cx="45720" cy="841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10981" y="1666036"/>
            <a:ext cx="45720" cy="1426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2331720"/>
            <a:ext cx="39319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37160">
            <a:noAutofit/>
          </a:bodyPr>
          <a:lstStyle/>
          <a:p>
            <a:pPr algn="l"/>
            <a:r>
              <a:rPr sz="900" b="0">
                <a:solidFill>
                  <a:srgbClr val="5B6673"/>
                </a:solidFill>
                <a:latin typeface="Moscow Sans Regular"/>
                <a:ea typeface="Moscow Sans Regular"/>
                <a:cs typeface="Moscow Sans Regular"/>
              </a:rPr>
              <a:t>ВАШ ОТВЕТ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230"/>
                </a:solidFill>
                <a:latin typeface="Moscow Sans Regular"/>
                <a:ea typeface="Moscow Sans Regular"/>
                <a:cs typeface="Moscow Sans Regular"/>
              </a:rPr>
              <a:t>Please stay calm, I am here to help. I'm sorry, we can't give medicine, but the train manager is coming and we will find a doctor.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7616" y="320040"/>
            <a:ext cx="429768" cy="4297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02920"/>
            <a:ext cx="140817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F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9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РАЗ В НЕДЕЛЮ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0584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Турнир недели</a:t>
            </a:r>
          </a:p>
          <a:p>
            <a:pPr algn="l">
              <a:spcBef>
                <a:spcPts val="1400"/>
              </a:spcBef>
            </a:pPr>
            <a:r>
              <a:rPr sz="14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Все заходят одновременно и отвечают на время. Решают точность и скорость.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834640"/>
            <a:ext cx="100584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10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вопросов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834640"/>
            <a:ext cx="11887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15 с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на ответ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83464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Топ-10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трофей и +100 очков компетенций</a:t>
            </a:r>
          </a:p>
        </p:txBody>
      </p:sp>
      <p:pic>
        <p:nvPicPr>
          <p:cNvPr id="8" name="Picture 7" descr="ph_tourna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02920"/>
            <a:ext cx="1858229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502920"/>
            <a:ext cx="184251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F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9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ПРОФИЛЬ И РЕЙТИНГ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4434840" cy="342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Прогресс виден</a:t>
            </a:r>
          </a:p>
          <a:p>
            <a:pPr algn="l"/>
            <a:r>
              <a:rPr sz="28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каждый день.</a:t>
            </a:r>
          </a:p>
          <a:p>
            <a:pPr algn="l" marL="219456" indent="-219456">
              <a:spcBef>
                <a:spcPts val="1600"/>
              </a:spcBef>
              <a:buClr>
                <a:srgbClr val="3F6FD1"/>
              </a:buClr>
              <a:buSzPct val="70000"/>
              <a:buFont typeface="Arial"/>
              <a:buChar char="■"/>
            </a:pPr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8 уровней </a:t>
            </a:r>
            <a:r>
              <a:rPr sz="12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— от «Стажёра» до «Легенды магистрали»</a:t>
            </a:r>
          </a:p>
          <a:p>
            <a:pPr algn="l" marL="219456" indent="-219456">
              <a:spcBef>
                <a:spcPts val="800"/>
              </a:spcBef>
              <a:buClr>
                <a:srgbClr val="3F6FD1"/>
              </a:buClr>
              <a:buSzPct val="70000"/>
              <a:buFont typeface="Arial"/>
              <a:buChar char="■"/>
            </a:pPr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14 ачивок </a:t>
            </a:r>
            <a:r>
              <a:rPr sz="12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и турнирные трофеи</a:t>
            </a:r>
          </a:p>
          <a:p>
            <a:pPr algn="l" marL="219456" indent="-219456">
              <a:spcBef>
                <a:spcPts val="800"/>
              </a:spcBef>
              <a:buClr>
                <a:srgbClr val="3F6FD1"/>
              </a:buClr>
              <a:buSzPct val="70000"/>
              <a:buFont typeface="Arial"/>
              <a:buChar char="■"/>
            </a:pPr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Рейтинг </a:t>
            </a:r>
            <a:r>
              <a:rPr sz="12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по компании, депо и бригаде</a:t>
            </a:r>
          </a:p>
          <a:p>
            <a:pPr algn="l" marL="219456" indent="-219456">
              <a:spcBef>
                <a:spcPts val="800"/>
              </a:spcBef>
              <a:buClr>
                <a:srgbClr val="3F6FD1"/>
              </a:buClr>
              <a:buSzPct val="70000"/>
              <a:buFont typeface="Arial"/>
              <a:buChar char="■"/>
            </a:pPr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Адаптивная сложность: </a:t>
            </a:r>
            <a:r>
              <a:rPr sz="12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следующий рейс — по слабым местам</a:t>
            </a:r>
          </a:p>
          <a:p>
            <a:pPr algn="l" marL="219456" indent="-219456">
              <a:spcBef>
                <a:spcPts val="800"/>
              </a:spcBef>
              <a:buClr>
                <a:srgbClr val="3F6FD1"/>
              </a:buClr>
              <a:buSzPct val="70000"/>
              <a:buFont typeface="Arial"/>
              <a:buChar char="■"/>
            </a:pPr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Уведомления: </a:t>
            </a:r>
            <a:r>
              <a:rPr sz="12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новые сценарии, турнир, «рейтинг скоро обнулится»</a:t>
            </a:r>
          </a:p>
        </p:txBody>
      </p:sp>
      <p:pic>
        <p:nvPicPr>
          <p:cNvPr id="4" name="Picture 3" descr="ph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11480"/>
            <a:ext cx="1792644" cy="3749039"/>
          </a:xfrm>
          <a:prstGeom prst="rect">
            <a:avLst/>
          </a:prstGeom>
        </p:spPr>
      </p:pic>
      <p:pic>
        <p:nvPicPr>
          <p:cNvPr id="5" name="Picture 4" descr="ph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724" y="411480"/>
            <a:ext cx="1792644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_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02920"/>
            <a:ext cx="5577840" cy="368137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535871" y="1604543"/>
            <a:ext cx="4267047" cy="251002"/>
          </a:xfrm>
          <a:prstGeom prst="roundRect">
            <a:avLst>
              <a:gd name="adj" fmla="val 20000"/>
            </a:avLst>
          </a:prstGeom>
          <a:noFill/>
          <a:ln w="28575">
            <a:solidFill>
              <a:srgbClr val="9F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1993163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rIns="182880" bIns="0">
            <a:noAutofit/>
          </a:bodyPr>
          <a:lstStyle/>
          <a:p>
            <a:pPr algn="ctr"/>
            <a:r>
              <a:rPr sz="1200" b="0">
                <a:solidFill>
                  <a:srgbClr val="1A1230"/>
                </a:solidFill>
                <a:latin typeface="Moscow Sans Regular"/>
                <a:ea typeface="Moscow Sans Regular"/>
                <a:cs typeface="Moscow Sans Regular"/>
              </a:rPr>
              <a:t>Безопасность </a:t>
            </a:r>
            <a:r>
              <a:rPr sz="1400" b="0">
                <a:solidFill>
                  <a:srgbClr val="D7263D"/>
                </a:solidFill>
                <a:latin typeface="Moscow Sans Regular"/>
                <a:ea typeface="Moscow Sans Regular"/>
                <a:cs typeface="Moscow Sans Regular"/>
              </a:rPr>
              <a:t>−6,7</a:t>
            </a:r>
            <a:r>
              <a:rPr sz="1200" b="0">
                <a:solidFill>
                  <a:srgbClr val="1A1230"/>
                </a:solidFill>
                <a:latin typeface="Moscow Sans Regular"/>
                <a:ea typeface="Moscow Sans Regular"/>
                <a:cs typeface="Moscow Sans Regular"/>
              </a:rPr>
              <a:t> за месяц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502920"/>
            <a:ext cx="184251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F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9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РУКОВОДИТЕЛЬ И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005840"/>
            <a:ext cx="256032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Видно,</a:t>
            </a:r>
          </a:p>
          <a:p>
            <a:pPr algn="l"/>
            <a:r>
              <a:rPr sz="26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кому нужна</a:t>
            </a:r>
          </a:p>
          <a:p>
            <a:pPr algn="l"/>
            <a:r>
              <a:rPr sz="26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помощь.</a:t>
            </a:r>
          </a:p>
          <a:p>
            <a:pPr algn="l">
              <a:spcBef>
                <a:spcPts val="1600"/>
              </a:spcBef>
            </a:pPr>
            <a:r>
              <a:rPr sz="12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Дашборд активности, частые ошибки, карточки сотрудников и готовность к повышению. Отчёты для HR — в Excel и JSON.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502920"/>
            <a:ext cx="140817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F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9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ИИ-АССИСТЕНТ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Спросите</a:t>
            </a:r>
          </a:p>
          <a:p>
            <a:pPr algn="l"/>
            <a:r>
              <a:rPr sz="28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обычными словами.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88920"/>
            <a:ext cx="3017520" cy="1097280"/>
          </a:xfrm>
          <a:prstGeom prst="roundRect">
            <a:avLst>
              <a:gd name="adj" fmla="val 12000"/>
            </a:avLst>
          </a:prstGeom>
          <a:solidFill>
            <a:srgbClr val="271D47"/>
          </a:solidFill>
          <a:ln w="12700">
            <a:solidFill>
              <a:srgbClr val="3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«Покажи всех проводников, у кого упал рейтинг безопасности за месяц»</a:t>
            </a:r>
          </a:p>
        </p:txBody>
      </p:sp>
      <p:pic>
        <p:nvPicPr>
          <p:cNvPr id="5" name="Picture 4" descr="br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502920"/>
            <a:ext cx="5074920" cy="33494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03320" y="3989527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Ответ строится по текущим данным · GigaChat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_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5257800" cy="383819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35040" y="502920"/>
            <a:ext cx="140817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ГЕНЕРАЦИЯ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005840"/>
            <a:ext cx="274320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Сценарий</a:t>
            </a:r>
          </a:p>
          <a:p>
            <a:pPr algn="l"/>
            <a:r>
              <a:rPr sz="26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из ТЗ</a:t>
            </a:r>
          </a:p>
          <a:p>
            <a:pPr algn="l"/>
            <a:r>
              <a:rPr sz="26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инструктора.</a:t>
            </a:r>
          </a:p>
          <a:p>
            <a:pPr algn="l">
              <a:spcBef>
                <a:spcPts val="1600"/>
              </a:spcBef>
            </a:pPr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ИИ собирает черновик ветвящегося сценария: реплики, варианты ответа, таймеры и влияние на шкалы. Инструктор правит его в редакторе графа и публикует — без правки кода.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Модульно, с открытым API.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ВХОД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005840"/>
            <a:ext cx="3410712" cy="621792"/>
          </a:xfrm>
          <a:prstGeom prst="roundRect">
            <a:avLst>
              <a:gd name="adj" fmla="val 12000"/>
            </a:avLst>
          </a:prstGeom>
          <a:solidFill>
            <a:srgbClr val="271D47"/>
          </a:solidFill>
          <a:ln w="12700">
            <a:solidFill>
              <a:srgbClr val="3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54864" rIns="109728" bIns="54864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Web view</a:t>
            </a:r>
          </a:p>
          <a:p>
            <a:pPr algn="l"/>
            <a:r>
              <a:rPr sz="10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браузер или встраивание в приложение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56816" y="1143000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3A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6" name="Picture 5" descr="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97864"/>
            <a:ext cx="237744" cy="2377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67528" y="1005840"/>
            <a:ext cx="3410712" cy="621792"/>
          </a:xfrm>
          <a:prstGeom prst="roundRect">
            <a:avLst>
              <a:gd name="adj" fmla="val 12000"/>
            </a:avLst>
          </a:prstGeom>
          <a:solidFill>
            <a:srgbClr val="271D47"/>
          </a:solidFill>
          <a:ln w="12700">
            <a:solidFill>
              <a:srgbClr val="3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54864" rIns="109728" bIns="54864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Caddy · nginx</a:t>
            </a:r>
          </a:p>
          <a:p>
            <a:pPr algn="l"/>
            <a:r>
              <a:rPr sz="10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HTTPS, статика, прокси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95544" y="1143000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3A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9" name="Picture 8" descr="cad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197864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" y="1755648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ПРИЛОЖЕНИЕ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755648"/>
            <a:ext cx="2231136" cy="621792"/>
          </a:xfrm>
          <a:prstGeom prst="roundRect">
            <a:avLst>
              <a:gd name="adj" fmla="val 12000"/>
            </a:avLst>
          </a:prstGeom>
          <a:solidFill>
            <a:srgbClr val="271D47"/>
          </a:solidFill>
          <a:ln w="12700">
            <a:solidFill>
              <a:srgbClr val="3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54864" rIns="109728" bIns="54864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React 18</a:t>
            </a:r>
          </a:p>
          <a:p>
            <a:pPr algn="l"/>
            <a:r>
              <a:rPr sz="10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TypeScript · 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56816" y="1892808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3A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13" name="Picture 12" descr="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1947672"/>
            <a:ext cx="237744" cy="23774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187952" y="1755648"/>
            <a:ext cx="2231136" cy="621792"/>
          </a:xfrm>
          <a:prstGeom prst="roundRect">
            <a:avLst>
              <a:gd name="adj" fmla="val 12000"/>
            </a:avLst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54864" rIns="109728" bIns="54864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FastAPI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сценарии, очки,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892808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2E5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16" name="Picture 15" descr="fast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1947672"/>
            <a:ext cx="237744" cy="23774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47104" y="1755648"/>
            <a:ext cx="2231136" cy="621792"/>
          </a:xfrm>
          <a:prstGeom prst="roundRect">
            <a:avLst>
              <a:gd name="adj" fmla="val 12000"/>
            </a:avLst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54864" rIns="109728" bIns="54864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GigaChat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оценка и генерация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892808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2E5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19" name="Picture 18" descr="giga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1947672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4048" y="2505456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ДАННЫЕ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2505456"/>
            <a:ext cx="3410712" cy="621792"/>
          </a:xfrm>
          <a:prstGeom prst="roundRect">
            <a:avLst>
              <a:gd name="adj" fmla="val 12000"/>
            </a:avLst>
          </a:prstGeom>
          <a:solidFill>
            <a:srgbClr val="271D47"/>
          </a:solidFill>
          <a:ln w="12700">
            <a:solidFill>
              <a:srgbClr val="3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54864" rIns="109728" bIns="54864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PostgreSQL 17</a:t>
            </a:r>
          </a:p>
          <a:p>
            <a:pPr algn="l"/>
            <a:r>
              <a:rPr sz="10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сотрудники, сценарии, прогресс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56816" y="2642616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3A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23" name="Picture 22" descr="postgresq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680" y="2697480"/>
            <a:ext cx="237744" cy="23774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367528" y="2505456"/>
            <a:ext cx="3410712" cy="621792"/>
          </a:xfrm>
          <a:prstGeom prst="roundRect">
            <a:avLst>
              <a:gd name="adj" fmla="val 12000"/>
            </a:avLst>
          </a:prstGeom>
          <a:solidFill>
            <a:srgbClr val="271D47"/>
          </a:solidFill>
          <a:ln w="12700">
            <a:solidFill>
              <a:srgbClr val="3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54864" rIns="109728" bIns="54864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Valkey 8</a:t>
            </a:r>
          </a:p>
          <a:p>
            <a:pPr algn="l"/>
            <a:r>
              <a:rPr sz="10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турнир онлайн, специвенты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95544" y="2642616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3A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26" name="Picture 25" descr="valk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408" y="2697480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4048" y="3255264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НАБЛЮДАЕМОСТЬ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3255264"/>
            <a:ext cx="1641348" cy="621792"/>
          </a:xfrm>
          <a:prstGeom prst="roundRect">
            <a:avLst>
              <a:gd name="adj" fmla="val 12000"/>
            </a:avLst>
          </a:prstGeom>
          <a:solidFill>
            <a:srgbClr val="271D47"/>
          </a:solidFill>
          <a:ln w="12700">
            <a:solidFill>
              <a:srgbClr val="3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54864" rIns="109728" bIns="54864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Prometheus</a:t>
            </a:r>
          </a:p>
          <a:p>
            <a:pPr algn="l"/>
            <a:r>
              <a:rPr sz="10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метрики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56816" y="339242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3A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30" name="Picture 29" descr="prometheu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1680" y="3447288"/>
            <a:ext cx="237744" cy="23774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598164" y="3255264"/>
            <a:ext cx="1641348" cy="621792"/>
          </a:xfrm>
          <a:prstGeom prst="roundRect">
            <a:avLst>
              <a:gd name="adj" fmla="val 12000"/>
            </a:avLst>
          </a:prstGeom>
          <a:solidFill>
            <a:srgbClr val="271D47"/>
          </a:solidFill>
          <a:ln w="12700">
            <a:solidFill>
              <a:srgbClr val="3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54864" rIns="109728" bIns="54864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Loki · Alloy</a:t>
            </a:r>
          </a:p>
          <a:p>
            <a:pPr algn="l"/>
            <a:r>
              <a:rPr sz="10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логи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26180" y="339242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3A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33" name="Picture 32" descr="lok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1044" y="3447288"/>
            <a:ext cx="237744" cy="237744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367528" y="3255264"/>
            <a:ext cx="1641348" cy="621792"/>
          </a:xfrm>
          <a:prstGeom prst="roundRect">
            <a:avLst>
              <a:gd name="adj" fmla="val 12000"/>
            </a:avLst>
          </a:prstGeom>
          <a:solidFill>
            <a:srgbClr val="271D47"/>
          </a:solidFill>
          <a:ln w="12700">
            <a:solidFill>
              <a:srgbClr val="3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54864" rIns="109728" bIns="54864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Grafana</a:t>
            </a:r>
          </a:p>
          <a:p>
            <a:pPr algn="l"/>
            <a:r>
              <a:rPr sz="10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дашборды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95544" y="339242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3A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36" name="Picture 35" descr="grafan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0408" y="3447288"/>
            <a:ext cx="237744" cy="237744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7136892" y="3255264"/>
            <a:ext cx="1641348" cy="621792"/>
          </a:xfrm>
          <a:prstGeom prst="roundRect">
            <a:avLst>
              <a:gd name="adj" fmla="val 12000"/>
            </a:avLst>
          </a:prstGeom>
          <a:solidFill>
            <a:srgbClr val="271D47"/>
          </a:solidFill>
          <a:ln w="12700">
            <a:solidFill>
              <a:srgbClr val="3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66928" tIns="54864" rIns="109728" bIns="54864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pgAdmin</a:t>
            </a:r>
          </a:p>
          <a:p>
            <a:pPr algn="l"/>
            <a:r>
              <a:rPr sz="10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доступ к БД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4907" y="339242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3A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39" name="Picture 38" descr="pgadmi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9771" y="3447288"/>
            <a:ext cx="237744" cy="23774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84048" y="40690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Swagger / OpenAPI  ·  JSON и Excel для HR/LMS  ·  Docker Compose  ·  CI/CD → VPS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7616" y="320040"/>
            <a:ext cx="429768" cy="4297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502920"/>
            <a:ext cx="184251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F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9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СЛЕДУЮЩИЕ СТАНЦИИ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0584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После хакатона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38528"/>
            <a:ext cx="8138160" cy="45720"/>
          </a:xfrm>
          <a:prstGeom prst="rect">
            <a:avLst/>
          </a:prstGeom>
          <a:solidFill>
            <a:srgbClr val="9F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429768" y="1828800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240280"/>
            <a:ext cx="1993392" cy="2148840"/>
          </a:xfrm>
          <a:prstGeom prst="roundRect">
            <a:avLst>
              <a:gd name="adj" fmla="val 8000"/>
            </a:avLst>
          </a:prstGeom>
          <a:solidFill>
            <a:srgbClr val="271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28016" rIns="128016" bIns="91440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Контент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Валидация сценариев с экспертами ВСМ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Медиа из задания: фото, видео, аудио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Больше должностей и компетенций</a:t>
            </a:r>
          </a:p>
        </p:txBody>
      </p:sp>
      <p:sp>
        <p:nvSpPr>
          <p:cNvPr id="8" name="Oval 7"/>
          <p:cNvSpPr/>
          <p:nvPr/>
        </p:nvSpPr>
        <p:spPr>
          <a:xfrm>
            <a:off x="2551175" y="1828800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2240280"/>
            <a:ext cx="1993392" cy="2148840"/>
          </a:xfrm>
          <a:prstGeom prst="roundRect">
            <a:avLst>
              <a:gd name="adj" fmla="val 8000"/>
            </a:avLst>
          </a:prstGeom>
          <a:solidFill>
            <a:srgbClr val="271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28016" rIns="128016" bIns="91440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ИИ и оценка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Калибровка рубрик на экспертной разметке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Голосовой ответ с транскрибацией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Переключение LLM-провайдеров</a:t>
            </a:r>
          </a:p>
        </p:txBody>
      </p:sp>
      <p:sp>
        <p:nvSpPr>
          <p:cNvPr id="10" name="Oval 9"/>
          <p:cNvSpPr/>
          <p:nvPr/>
        </p:nvSpPr>
        <p:spPr>
          <a:xfrm>
            <a:off x="4672583" y="1828800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2240280"/>
            <a:ext cx="1993392" cy="2148840"/>
          </a:xfrm>
          <a:prstGeom prst="roundRect">
            <a:avLst>
              <a:gd name="adj" fmla="val 8000"/>
            </a:avLst>
          </a:prstGeom>
          <a:solidFill>
            <a:srgbClr val="271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28016" rIns="128016" bIns="91440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Продукт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Командные турниры бригад и депо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Лиги и сезоны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PWA поверх web view</a:t>
            </a:r>
          </a:p>
        </p:txBody>
      </p:sp>
      <p:sp>
        <p:nvSpPr>
          <p:cNvPr id="12" name="Oval 11"/>
          <p:cNvSpPr/>
          <p:nvPr/>
        </p:nvSpPr>
        <p:spPr>
          <a:xfrm>
            <a:off x="6793991" y="1828800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1" y="2240280"/>
            <a:ext cx="1993392" cy="2148840"/>
          </a:xfrm>
          <a:prstGeom prst="roundRect">
            <a:avLst>
              <a:gd name="adj" fmla="val 8000"/>
            </a:avLst>
          </a:prstGeom>
          <a:solidFill>
            <a:srgbClr val="271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28016" rIns="128016" bIns="91440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Интеграции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SSO с системами ВСМ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Глубже с LMS и HR</a:t>
            </a:r>
          </a:p>
          <a:p>
            <a:pPr algn="l" marL="219456" indent="-219456">
              <a:spcBef>
                <a:spcPts val="600"/>
              </a:spcBef>
              <a:buClr>
                <a:srgbClr val="9FC5E8"/>
              </a:buClr>
              <a:buSzPct val="70000"/>
              <a:buFont typeface="Arial"/>
              <a:buChar char="■"/>
            </a:pPr>
            <a:r>
              <a:rPr sz="10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Импорт сотрудников и учебных групп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57616" y="320040"/>
            <a:ext cx="429768" cy="4297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927848" y="749808"/>
            <a:ext cx="429768" cy="4297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1148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Магистраль 400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Тренажёр нештатных ситуаций для проводников ВСМ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783080"/>
            <a:ext cx="8394192" cy="2514600"/>
          </a:xfrm>
          <a:prstGeom prst="roundRect">
            <a:avLst>
              <a:gd name="adj" fmla="val 8000"/>
            </a:avLst>
          </a:prstGeom>
          <a:solidFill>
            <a:srgbClr val="271D47"/>
          </a:solidFill>
          <a:ln w="12700">
            <a:solidFill>
              <a:srgbClr val="3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38528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 bIns="137160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/>
            </a:r>
          </a:p>
        </p:txBody>
      </p:sp>
      <p:pic>
        <p:nvPicPr>
          <p:cNvPr id="7" name="Picture 6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29968"/>
            <a:ext cx="201168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63240" y="2011680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ПОПРОБУЙТЕ ПРЯМО СЕЙЧАС</a:t>
            </a:r>
          </a:p>
          <a:p>
            <a:pPr algn="l">
              <a:spcBef>
                <a:spcPts val="400"/>
              </a:spcBef>
            </a:pPr>
            <a:r>
              <a:rPr sz="320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vsm-gamification</a:t>
            </a:r>
            <a:r>
              <a:rPr sz="320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.ru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320040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rIns="137160" bIns="0">
            <a:noAutofit/>
          </a:bodyPr>
          <a:lstStyle/>
          <a:p>
            <a:pPr algn="l"/>
            <a:r>
              <a:rPr sz="115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Проводник   </a:t>
            </a:r>
            <a:r>
              <a:rPr sz="11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demo@m400.ru / demo123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65760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rIns="137160" bIns="0">
            <a:noAutofit/>
          </a:bodyPr>
          <a:lstStyle/>
          <a:p>
            <a:pPr algn="l"/>
            <a:r>
              <a:rPr sz="1150" b="0">
                <a:solidFill>
                  <a:srgbClr val="9FC5E8"/>
                </a:solidFill>
                <a:latin typeface="Moscow Sans Regular"/>
                <a:ea typeface="Moscow Sans Regular"/>
                <a:cs typeface="Moscow Sans Regular"/>
              </a:rPr>
              <a:t>Руководитель   </a:t>
            </a:r>
            <a:r>
              <a:rPr sz="1150" b="0">
                <a:solidFill>
                  <a:srgbClr val="FFFFFF"/>
                </a:solidFill>
                <a:latin typeface="Moscow Sans Regular"/>
                <a:ea typeface="Moscow Sans Regular"/>
                <a:cs typeface="Moscow Sans Regular"/>
              </a:rPr>
              <a:t>lead@m400.ru / lead123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5262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C3BDDB"/>
                </a:solidFill>
                <a:latin typeface="Moscow Sans Regular"/>
                <a:ea typeface="Moscow Sans Regular"/>
                <a:cs typeface="Moscow Sans Regular"/>
              </a:rPr>
              <a:t>Команда «Кокаманы» · Хакатон Московского транспорта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