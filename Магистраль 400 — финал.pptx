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8.xml" ContentType="application/vnd.openxmlformats-officedocument.theme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9144000" cy="5143500"/>
  <p:notesSz cx="6858000" cy="9144000"/>
  <p:embeddedFontLst>
    <p:embeddedFont>
      <p:font typeface="Moscow Sans Regular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8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перемещения страницы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формата примечаний щёлкните мышью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&lt;верхний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D282F3B-3FA5-432F-9E85-4B2AA0391F6B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19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(0:25–0:40) Мы команда «Кокаманы», и это «Магистраль 400», тренажёр нештатных ситуаций для проводников ВСМ. Уровни проводника здесь — станции на линии Москва — Петербург.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160" cy="342792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(0:00–0:25) Пятница, поезд идёт 300 километров в час. Проводнику приходит голосовое от коллеги: «У меня в третьем вагоне плачет девочка лет пяти, маму потеряла, взрослых рядом нет». На решение 15 секунд. Если замешкаться, девочка уйдёт в тамбур одна.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Такие ситуации не отрепетируешь на живых пассажирах. А решать их придётся.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160" cy="3427920"/>
          </a:xfrm>
          <a:prstGeom prst="rect">
            <a:avLst/>
          </a:prstGeom>
          <a:ln w="0">
            <a:noFill/>
          </a:ln>
        </p:spPr>
      </p:sp>
      <p:sp>
        <p:nvSpPr>
          <p:cNvPr id="19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(0:40–1:00) Кейс ставит четыре проблемы: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лекции и тесты не учат решать под давлением;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нет безопасной среды для отработки;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soft skills трудно измерить;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к постоянному обучению нет мотивации.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Мы закрываем каждую.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160" cy="3427920"/>
          </a:xfrm>
          <a:prstGeom prst="rect">
            <a:avLst/>
          </a:prstGeom>
          <a:ln w="0">
            <a:noFill/>
          </a:ln>
        </p:spPr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(0:00–0:25) Пятница, поезд идёт 300 километров в час. Проводнику приходит голосовое от коллеги: «У меня в третьем вагоне плачет девочка лет пяти, маму потеряла, взрослых рядом нет». На решение 15 секунд. Если замешкаться, девочка уйдёт в тамбур одна.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Такие ситуации не отрепетируешь на живых пассажирах. А решать их придётся.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160" cy="3427920"/>
          </a:xfrm>
          <a:prstGeom prst="rect">
            <a:avLst/>
          </a:prstGeom>
          <a:ln w="0">
            <a:noFill/>
          </a:ln>
        </p:spPr>
      </p:sp>
      <p:sp>
        <p:nvSpPr>
          <p:cNvPr id="19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(1:00–1:35) Контент мы не выдумывали. Все 51 ситуацию из справочника «Примеры ситуаций взаимодействия поездного персонала с пассажирами» и стандарты СТО РЖД для ВСМ мы собрали в 14 сюжетных рейсов.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Вот рейс «Двое на одном месте». Пассажир занял чужое место, на решение 20 секунд. Если ответить грубо, «освободите немедленно», лояльность падает с 60 до 45, и пассажир грозит жалобой.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Диалог нелинейный: каждое решение ведёт в свою ветку. Таймер не декорация. Если время вышло, срабатывает отдельная ветка с последствиями.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160" cy="3427920"/>
          </a:xfrm>
          <a:prstGeom prst="rect">
            <a:avLst/>
          </a:prstGeom>
          <a:ln w="0">
            <a:noFill/>
          </a:ln>
        </p:spPr>
      </p:sp>
      <p:sp>
        <p:nvSpPr>
          <p:cNvPr id="20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(1:35–2:05) Лояльность пассажира и безопасность считаются отдельно, и одно решение влияет на них по-разному. Если безопасность падает до нуля, рейс сразу заканчивается провалом: «Критический инцидент».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После рейса проводник видит разбор каждого решения: что пошло не так, как было правильно и кого звать — начальника поезда, транспортную безопасность или электромеханика. Не просто «верно / неверно».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160" cy="3427920"/>
          </a:xfrm>
          <a:prstGeom prst="rect">
            <a:avLst/>
          </a:prstGeom>
          <a:ln w="0">
            <a:noFill/>
          </a:ln>
        </p:spPr>
      </p:sp>
      <p:sp>
        <p:nvSpPr>
          <p:cNvPr id="20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(2:05–2:30) Руководитель может посреди смены отправить экстренный вызов всем или выбранным сотрудникам. Проводник слушает голосовое и учится воспринимать информацию на слух. Хард-уровень: голосовое на английском от иностранной пассажирки.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Свободный ответ оценивает ИИ-наставник по рубрике из регламента.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160" cy="3427920"/>
          </a:xfrm>
          <a:prstGeom prst="rect">
            <a:avLst/>
          </a:prstGeom>
          <a:ln w="0">
            <a:noFill/>
          </a:ln>
        </p:spPr>
      </p:sp>
      <p:sp>
        <p:nvSpPr>
          <p:cNvPr id="20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(2:30–2:45) Раз в неделю проходит турнир: 10 вопросов по 15 секунд, все отвечают одновременно. Топ-10 получают трофей и 100 очков компетенций.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160" cy="3427920"/>
          </a:xfrm>
          <a:prstGeom prst="rect">
            <a:avLst/>
          </a:prstGeom>
          <a:ln w="0">
            <a:noFill/>
          </a:ln>
        </p:spPr>
      </p:sp>
      <p:sp>
        <p:nvSpPr>
          <p:cNvPr id="20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(2:45–3:05) Цикл замкнут: действие → очки → ачивки → рейтинг → мотивация.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- 8 уровней от «Стажёра» до «Легенды магистрали» и 14 ачивок.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Рейтинг по компании, депо и бригаде.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Уведомления, в том числе «недельный рейтинг скоро обнулится».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Следующий рейс система подбирает по слабым местам.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160" cy="3427920"/>
          </a:xfrm>
          <a:prstGeom prst="rect">
            <a:avLst/>
          </a:prstGeom>
          <a:ln w="0">
            <a:noFill/>
          </a:ln>
        </p:spPr>
      </p:sp>
      <p:sp>
        <p:nvSpPr>
          <p:cNvPr id="20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(3:05–3:25) Руководитель сразу видит, кому нужна помощь: у кого за месяц просела безопасность, кто давно не тренировался. Есть карточки сотрудников с готовностью к повышению и отчёты для HR в Excel и JSON.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160" cy="3427920"/>
          </a:xfrm>
          <a:prstGeom prst="rect">
            <a:avLst/>
          </a:prstGeom>
          <a:ln w="0">
            <a:noFill/>
          </a:ln>
        </p:spPr>
      </p:sp>
      <p:sp>
        <p:nvSpPr>
          <p:cNvPr id="21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(3:25–3:40) Вопрос можно задать обычными словами, например: «Покажи всех, у кого упал рейтинг безопасности». Ответ строится по живым данным.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160" cy="3427920"/>
          </a:xfrm>
          <a:prstGeom prst="rect">
            <a:avLst/>
          </a:prstGeom>
          <a:ln w="0">
            <a:noFill/>
          </a:ln>
        </p:spPr>
      </p:sp>
      <p:sp>
        <p:nvSpPr>
          <p:cNvPr id="21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(3:40–4:00) Инструктор описывает ситуацию своими словами, и ИИ собирает черновик ветвящегося сценария: реплики, таймеры, влияние на шкалы. Система проверяет граф, инструктор правит его в редакторе и публикует. Код трогать не нужно.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160" cy="3427920"/>
          </a:xfrm>
          <a:prstGeom prst="rect">
            <a:avLst/>
          </a:prstGeom>
          <a:ln w="0">
            <a:noFill/>
          </a:ln>
        </p:spPr>
      </p:sp>
      <p:sp>
        <p:nvSpPr>
          <p:cNvPr id="21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(4:00–4:30) Под капотом: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фронтенд на React;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бэкенд на FastAPI;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отдельный ML-сервис на GigaChat, а без ключей работает эвристика;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PostgreSQL и Valkey;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метрики в Prometheus, логи в Loki, дашборды в Grafana.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Весь API описан в Swagger. Проект поднимается одной командой в Docker. В демо только синтетические данные, по 152-ФЗ.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160" cy="3427920"/>
          </a:xfrm>
          <a:prstGeom prst="rect">
            <a:avLst/>
          </a:prstGeom>
          <a:ln w="0">
            <a:noFill/>
          </a:ln>
        </p:spPr>
      </p:sp>
      <p:sp>
        <p:nvSpPr>
          <p:cNvPr id="21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(4:30–4:45) Дальше: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валидация сценариев с экспертами ВСМ;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голосовой ответ с транскрибацией;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командные турниры бригад;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SSO и интеграция с LMS.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160" cy="3427920"/>
          </a:xfrm>
          <a:prstGeom prst="rect">
            <a:avLst/>
          </a:prstGeom>
          <a:ln w="0">
            <a:noFill/>
          </a:ln>
        </p:spPr>
      </p:sp>
      <p:sp>
        <p:nvSpPr>
          <p:cNvPr id="21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(4:45–5:00) Всё, что вы видели, уже работает на vsm-gamification.ru. Отсканируйте QR-код, логины на экране. Спасибо, ждём ваших вопросов.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7;p2"/>
          <p:cNvPicPr/>
          <p:nvPr/>
        </p:nvPicPr>
        <p:blipFill>
          <a:blip r:embed="rId3"/>
          <a:stretch/>
        </p:blipFill>
        <p:spPr>
          <a:xfrm>
            <a:off x="6869880" y="4501440"/>
            <a:ext cx="1919520" cy="288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520" cy="2982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">
    <p:bg>
      <p:bgPr>
        <a:solidFill>
          <a:srgbClr val="1A1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oogle Shape;9;p3"/>
          <p:cNvPicPr/>
          <p:nvPr/>
        </p:nvPicPr>
        <p:blipFill>
          <a:blip r:embed="rId2"/>
          <a:stretch/>
        </p:blipFill>
        <p:spPr>
          <a:xfrm>
            <a:off x="6869880" y="4501440"/>
            <a:ext cx="1919520" cy="288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520" cy="2982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2">
    <p:bg>
      <p:bgPr>
        <a:solidFill>
          <a:srgbClr val="3F6F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11;p4"/>
          <p:cNvPicPr/>
          <p:nvPr/>
        </p:nvPicPr>
        <p:blipFill>
          <a:blip r:embed="rId2"/>
          <a:stretch/>
        </p:blipFill>
        <p:spPr>
          <a:xfrm>
            <a:off x="6869880" y="4501440"/>
            <a:ext cx="1919520" cy="288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520" cy="2982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2_1">
    <p:bg>
      <p:bgPr>
        <a:solidFill>
          <a:srgbClr val="3F6F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1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4;p6"/>
          <p:cNvPicPr/>
          <p:nvPr/>
        </p:nvPicPr>
        <p:blipFill>
          <a:blip r:embed="rId3"/>
          <a:stretch/>
        </p:blipFill>
        <p:spPr>
          <a:xfrm>
            <a:off x="6869880" y="4501440"/>
            <a:ext cx="1919520" cy="288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520" cy="2982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3">
    <p:bg>
      <p:bgPr>
        <a:solidFill>
          <a:srgbClr val="1A1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1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520" cy="2982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1;p9"/>
          <p:cNvPicPr/>
          <p:nvPr/>
        </p:nvPicPr>
        <p:blipFill>
          <a:blip r:embed="rId1"/>
          <a:stretch/>
        </p:blipFill>
        <p:spPr>
          <a:xfrm>
            <a:off x="6094080" y="453240"/>
            <a:ext cx="2450880" cy="368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" name="Google Shape;23;p9"/>
          <p:cNvPicPr/>
          <p:nvPr/>
        </p:nvPicPr>
        <p:blipFill>
          <a:blip r:embed="rId2"/>
          <a:stretch/>
        </p:blipFill>
        <p:spPr>
          <a:xfrm>
            <a:off x="632880" y="1066680"/>
            <a:ext cx="7795080" cy="2502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" name="Google Shape;22;p9"/>
          <p:cNvSpPr/>
          <p:nvPr/>
        </p:nvSpPr>
        <p:spPr>
          <a:xfrm>
            <a:off x="868680" y="3730680"/>
            <a:ext cx="7588440" cy="105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28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Магистраль 400</a:t>
            </a:r>
            <a:endParaRPr lang="ru-RU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ru-RU" sz="13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Тренажёр нештатных ситуаций для проводников ВСМ · команда «Кокаманы»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1"/>
          <p:cNvSpPr/>
          <p:nvPr/>
        </p:nvSpPr>
        <p:spPr>
          <a:xfrm>
            <a:off x="5760720" y="0"/>
            <a:ext cx="3382200" cy="5142600"/>
          </a:xfrm>
          <a:prstGeom prst="rect">
            <a:avLst/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Rectangle 2"/>
          <p:cNvSpPr/>
          <p:nvPr/>
        </p:nvSpPr>
        <p:spPr>
          <a:xfrm>
            <a:off x="5330880" y="4014360"/>
            <a:ext cx="428760" cy="428760"/>
          </a:xfrm>
          <a:prstGeom prst="rect">
            <a:avLst/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Rectangle 3"/>
          <p:cNvSpPr/>
          <p:nvPr/>
        </p:nvSpPr>
        <p:spPr>
          <a:xfrm>
            <a:off x="4901040" y="3602880"/>
            <a:ext cx="428760" cy="428760"/>
          </a:xfrm>
          <a:prstGeom prst="rect">
            <a:avLst/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Rectangle 4"/>
          <p:cNvSpPr/>
          <p:nvPr/>
        </p:nvSpPr>
        <p:spPr>
          <a:xfrm>
            <a:off x="4471560" y="4014360"/>
            <a:ext cx="428760" cy="428760"/>
          </a:xfrm>
          <a:prstGeom prst="rect">
            <a:avLst/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" name="Picture 5" descr="ph_emergency.png"/>
          <p:cNvPicPr/>
          <p:nvPr/>
        </p:nvPicPr>
        <p:blipFill>
          <a:blip r:embed="rId1"/>
          <a:stretch/>
        </p:blipFill>
        <p:spPr>
          <a:xfrm>
            <a:off x="6370200" y="311040"/>
            <a:ext cx="2163240" cy="4525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" name="Rounded Rectangle 6"/>
          <p:cNvSpPr/>
          <p:nvPr/>
        </p:nvSpPr>
        <p:spPr>
          <a:xfrm>
            <a:off x="384120" y="502920"/>
            <a:ext cx="2015280" cy="291600"/>
          </a:xfrm>
          <a:prstGeom prst="roundRect">
            <a:avLst>
              <a:gd name="adj" fmla="val 50000"/>
            </a:avLst>
          </a:prstGeom>
          <a:noFill/>
          <a:ln>
            <a:solidFill>
              <a:srgbClr val="9FC5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9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ЭКСТРЕННАЯ СИТУАЦИЯ</a:t>
            </a:r>
            <a:endParaRPr lang="ru-R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TextBox 7"/>
          <p:cNvSpPr/>
          <p:nvPr/>
        </p:nvSpPr>
        <p:spPr>
          <a:xfrm>
            <a:off x="384120" y="1005840"/>
            <a:ext cx="4936680" cy="255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36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Потерялся ребёнок.</a:t>
            </a:r>
            <a:endParaRPr lang="ru-RU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36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Решать — вам.</a:t>
            </a:r>
            <a:endParaRPr lang="ru-RU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800"/>
              </a:spcBef>
            </a:pPr>
            <a:r>
              <a:rPr lang="ru-RU" sz="14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Поезд идёт 300 км/ч. Голосовое из 3-го вагона: девочка лет пяти потеряла маму. На решение — 15 секунд. Проводник ВСМ должен быть к этому готов.</a:t>
            </a:r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ounded Rectangle 1"/>
          <p:cNvSpPr/>
          <p:nvPr/>
        </p:nvSpPr>
        <p:spPr>
          <a:xfrm>
            <a:off x="384120" y="502920"/>
            <a:ext cx="1407240" cy="291600"/>
          </a:xfrm>
          <a:prstGeom prst="roundRect">
            <a:avLst>
              <a:gd name="adj" fmla="val 50000"/>
            </a:avLst>
          </a:prstGeom>
          <a:noFill/>
          <a:ln>
            <a:solidFill>
              <a:srgbClr val="9FC5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9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ЗАДАЧА КЕЙСА</a:t>
            </a:r>
            <a:endParaRPr lang="ru-R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Box 2"/>
          <p:cNvSpPr/>
          <p:nvPr/>
        </p:nvSpPr>
        <p:spPr>
          <a:xfrm>
            <a:off x="384120" y="1005840"/>
            <a:ext cx="3565080" cy="32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28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Лекции и тесты</a:t>
            </a:r>
            <a:endParaRPr lang="ru-RU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8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не учат решать</a:t>
            </a:r>
            <a:endParaRPr lang="ru-RU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8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за секунды.</a:t>
            </a:r>
            <a:endParaRPr lang="ru-RU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800"/>
              </a:spcBef>
            </a:pPr>
            <a:r>
              <a:rPr lang="ru-RU" sz="13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Нужна среда, где проводник отрабатывает нештатные ситуации под таймером и видит последствия каждого решения.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Rounded Rectangle 3"/>
          <p:cNvSpPr/>
          <p:nvPr/>
        </p:nvSpPr>
        <p:spPr>
          <a:xfrm>
            <a:off x="4160520" y="457200"/>
            <a:ext cx="2239200" cy="1827720"/>
          </a:xfrm>
          <a:prstGeom prst="roundRect">
            <a:avLst>
              <a:gd name="adj" fmla="val 8000"/>
            </a:avLst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64520" rIns="164520" bIns="137160" anchor="t">
            <a:noAutofit/>
          </a:bodyPr>
          <a:p>
            <a:pPr>
              <a:lnSpc>
                <a:spcPct val="100000"/>
              </a:lnSpc>
            </a:pPr>
            <a:r>
              <a:rPr lang="ru-RU" sz="1200" b="0" u="none" strike="noStrike">
                <a:solidFill>
                  <a:srgbClr val="1A1230"/>
                </a:solidFill>
                <a:effectLst/>
                <a:uFillTx/>
                <a:latin typeface="Moscow Sans Regular"/>
                <a:ea typeface="Moscow Sans Regular"/>
              </a:rPr>
              <a:t>01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ru-RU" sz="15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Стресс и дефицит времени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799"/>
              </a:spcBef>
            </a:pPr>
            <a:r>
              <a:rPr lang="ru-RU" sz="11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Классическое обучение не тренирует решения под давлением.</a:t>
            </a:r>
            <a:endParaRPr lang="ru-R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Rounded Rectangle 4"/>
          <p:cNvSpPr/>
          <p:nvPr/>
        </p:nvSpPr>
        <p:spPr>
          <a:xfrm>
            <a:off x="6537960" y="457200"/>
            <a:ext cx="2239200" cy="1827720"/>
          </a:xfrm>
          <a:prstGeom prst="roundRect">
            <a:avLst>
              <a:gd name="adj" fmla="val 8000"/>
            </a:avLst>
          </a:prstGeom>
          <a:solidFill>
            <a:srgbClr val="271D4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64520" rIns="164520" bIns="137160" anchor="t">
            <a:noAutofit/>
          </a:bodyPr>
          <a:p>
            <a:pPr>
              <a:lnSpc>
                <a:spcPct val="100000"/>
              </a:lnSpc>
            </a:pPr>
            <a:r>
              <a:rPr lang="ru-RU" sz="12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02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ru-RU" sz="15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Нет безопасной среды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799"/>
              </a:spcBef>
            </a:pPr>
            <a:r>
              <a:rPr lang="ru-RU" sz="11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Нештатную ситуацию не отрепетируешь на живых пассажирах.</a:t>
            </a:r>
            <a:endParaRPr lang="ru-R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Rounded Rectangle 5"/>
          <p:cNvSpPr/>
          <p:nvPr/>
        </p:nvSpPr>
        <p:spPr>
          <a:xfrm>
            <a:off x="4160520" y="2423160"/>
            <a:ext cx="2239200" cy="1827720"/>
          </a:xfrm>
          <a:prstGeom prst="roundRect">
            <a:avLst>
              <a:gd name="adj" fmla="val 8000"/>
            </a:avLst>
          </a:prstGeom>
          <a:solidFill>
            <a:srgbClr val="271D4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64520" rIns="164520" bIns="137160" anchor="t">
            <a:noAutofit/>
          </a:bodyPr>
          <a:p>
            <a:pPr>
              <a:lnSpc>
                <a:spcPct val="100000"/>
              </a:lnSpc>
            </a:pPr>
            <a:r>
              <a:rPr lang="ru-RU" sz="12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03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ru-RU" sz="15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Soft skills сложно оценить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799"/>
              </a:spcBef>
            </a:pPr>
            <a:r>
              <a:rPr lang="ru-RU" sz="11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Как объективно измерить, что проводник поступил правильно?</a:t>
            </a:r>
            <a:endParaRPr lang="ru-R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Rounded Rectangle 6"/>
          <p:cNvSpPr/>
          <p:nvPr/>
        </p:nvSpPr>
        <p:spPr>
          <a:xfrm>
            <a:off x="6537960" y="2423160"/>
            <a:ext cx="2239200" cy="1827720"/>
          </a:xfrm>
          <a:prstGeom prst="roundRect">
            <a:avLst>
              <a:gd name="adj" fmla="val 8000"/>
            </a:avLst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64520" rIns="164520" bIns="137160" anchor="t">
            <a:noAutofit/>
          </a:bodyPr>
          <a:p>
            <a:pPr>
              <a:lnSpc>
                <a:spcPct val="100000"/>
              </a:lnSpc>
            </a:pPr>
            <a:r>
              <a:rPr lang="ru-RU" sz="1200" b="0" u="none" strike="noStrike">
                <a:solidFill>
                  <a:srgbClr val="1A1230"/>
                </a:solidFill>
                <a:effectLst/>
                <a:uFillTx/>
                <a:latin typeface="Moscow Sans Regular"/>
                <a:ea typeface="Moscow Sans Regular"/>
              </a:rPr>
              <a:t>04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ru-RU" sz="15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Низкая мотивация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799"/>
              </a:spcBef>
            </a:pPr>
            <a:r>
              <a:rPr lang="ru-RU" sz="11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Постоянное развитие без азарта превращается в обязаловку.</a:t>
            </a:r>
            <a:endParaRPr lang="ru-R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8"/>
          <p:cNvSpPr/>
          <p:nvPr/>
        </p:nvSpPr>
        <p:spPr>
          <a:xfrm>
            <a:off x="5760720" y="0"/>
            <a:ext cx="3382200" cy="5142600"/>
          </a:xfrm>
          <a:prstGeom prst="rect">
            <a:avLst/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Rectangle 11"/>
          <p:cNvSpPr/>
          <p:nvPr/>
        </p:nvSpPr>
        <p:spPr>
          <a:xfrm>
            <a:off x="5330880" y="4014360"/>
            <a:ext cx="428760" cy="428760"/>
          </a:xfrm>
          <a:prstGeom prst="rect">
            <a:avLst/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Rectangle 12"/>
          <p:cNvSpPr/>
          <p:nvPr/>
        </p:nvSpPr>
        <p:spPr>
          <a:xfrm>
            <a:off x="4902120" y="3600000"/>
            <a:ext cx="428760" cy="428760"/>
          </a:xfrm>
          <a:prstGeom prst="rect">
            <a:avLst/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Rectangle 13"/>
          <p:cNvSpPr/>
          <p:nvPr/>
        </p:nvSpPr>
        <p:spPr>
          <a:xfrm>
            <a:off x="4472640" y="4011480"/>
            <a:ext cx="428760" cy="428760"/>
          </a:xfrm>
          <a:prstGeom prst="rect">
            <a:avLst/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Rounded Rectangle 38"/>
          <p:cNvSpPr/>
          <p:nvPr/>
        </p:nvSpPr>
        <p:spPr>
          <a:xfrm>
            <a:off x="160920" y="244080"/>
            <a:ext cx="868320" cy="868320"/>
          </a:xfrm>
          <a:prstGeom prst="roundRect">
            <a:avLst>
              <a:gd name="adj" fmla="val 22000"/>
            </a:avLst>
          </a:prstGeom>
          <a:solidFill>
            <a:srgbClr val="1C2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ru-RU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3" name="Freeform 1"/>
          <p:cNvSpPr/>
          <p:nvPr/>
        </p:nvSpPr>
        <p:spPr>
          <a:xfrm>
            <a:off x="334440" y="461160"/>
            <a:ext cx="542520" cy="325440"/>
          </a:xfrm>
          <a:custGeom>
            <a:avLst/>
            <a:gdLst>
              <a:gd name="textAreaLeft" fmla="*/ 0 w 542520"/>
              <a:gd name="textAreaRight" fmla="*/ 542880 w 542520"/>
              <a:gd name="textAreaTop" fmla="*/ 0 h 325440"/>
              <a:gd name="textAreaBottom" fmla="*/ 325800 h 325440"/>
            </a:gdLst>
            <a:ahLst/>
            <a:cxnLst/>
            <a:rect l="textAreaLeft" t="textAreaTop" r="textAreaRight" b="textAreaBottom"/>
            <a:pathLst>
              <a:path w="542925" h="325755">
                <a:moveTo>
                  <a:pt x="0" y="325755"/>
                </a:moveTo>
                <a:lnTo>
                  <a:pt x="282321" y="0"/>
                </a:lnTo>
                <a:lnTo>
                  <a:pt x="542925" y="0"/>
                </a:lnTo>
                <a:lnTo>
                  <a:pt x="260604" y="325755"/>
                </a:lnTo>
                <a:close/>
              </a:path>
            </a:pathLst>
          </a:custGeom>
          <a:solidFill>
            <a:srgbClr val="E2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ru-RU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4" name="Rounded Rectangle 39"/>
          <p:cNvSpPr/>
          <p:nvPr/>
        </p:nvSpPr>
        <p:spPr>
          <a:xfrm>
            <a:off x="334440" y="878040"/>
            <a:ext cx="520920" cy="56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4680" rIns="90000" bIns="-4680" anchor="ctr">
            <a:noAutofit/>
          </a:bodyPr>
          <a:p>
            <a:endParaRPr lang="ru-RU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5" name="TextBox 13"/>
          <p:cNvSpPr/>
          <p:nvPr/>
        </p:nvSpPr>
        <p:spPr>
          <a:xfrm>
            <a:off x="1194120" y="180000"/>
            <a:ext cx="42058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44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Магистраль 400</a:t>
            </a:r>
            <a:endParaRPr lang="ru-RU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TextBox 14"/>
          <p:cNvSpPr/>
          <p:nvPr/>
        </p:nvSpPr>
        <p:spPr>
          <a:xfrm>
            <a:off x="274680" y="1582920"/>
            <a:ext cx="493740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2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Тренажёр нештатных ситуаций</a:t>
            </a:r>
            <a:endParaRPr lang="ru-RU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для проводников ВСМ</a:t>
            </a:r>
            <a:endParaRPr lang="ru-RU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200"/>
              </a:spcBef>
            </a:pPr>
            <a:r>
              <a:rPr lang="ru-RU" sz="12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Команда «Кокаманы» · трек «Геймификация для ВСМ» · Хакатон Московского транспорта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7" name="Picture 2" descr="ph_home.png"/>
          <p:cNvPicPr/>
          <p:nvPr/>
        </p:nvPicPr>
        <p:blipFill>
          <a:blip r:embed="rId1"/>
          <a:stretch/>
        </p:blipFill>
        <p:spPr>
          <a:xfrm>
            <a:off x="6568560" y="311040"/>
            <a:ext cx="2163960" cy="4525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1"/>
          <p:cNvSpPr/>
          <p:nvPr/>
        </p:nvSpPr>
        <p:spPr>
          <a:xfrm>
            <a:off x="4931280" y="-180000"/>
            <a:ext cx="4212000" cy="5322600"/>
          </a:xfrm>
          <a:prstGeom prst="rect">
            <a:avLst/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Rectangle 2"/>
          <p:cNvSpPr/>
          <p:nvPr/>
        </p:nvSpPr>
        <p:spPr>
          <a:xfrm>
            <a:off x="4501800" y="4029480"/>
            <a:ext cx="428760" cy="428760"/>
          </a:xfrm>
          <a:prstGeom prst="rect">
            <a:avLst/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Rectangle 3"/>
          <p:cNvSpPr/>
          <p:nvPr/>
        </p:nvSpPr>
        <p:spPr>
          <a:xfrm>
            <a:off x="4071960" y="3600000"/>
            <a:ext cx="428760" cy="428760"/>
          </a:xfrm>
          <a:prstGeom prst="rect">
            <a:avLst/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1" name="Picture 4" descr="ph_choice.png"/>
          <p:cNvPicPr/>
          <p:nvPr/>
        </p:nvPicPr>
        <p:blipFill>
          <a:blip r:embed="rId1"/>
          <a:stretch/>
        </p:blipFill>
        <p:spPr>
          <a:xfrm>
            <a:off x="5095080" y="530280"/>
            <a:ext cx="1944720" cy="406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" name="Picture 5" descr="ph_feedback.png"/>
          <p:cNvPicPr/>
          <p:nvPr/>
        </p:nvPicPr>
        <p:blipFill>
          <a:blip r:embed="rId2"/>
          <a:stretch/>
        </p:blipFill>
        <p:spPr>
          <a:xfrm>
            <a:off x="7092000" y="530280"/>
            <a:ext cx="1944720" cy="4068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" name="Rounded Rectangle 6"/>
          <p:cNvSpPr/>
          <p:nvPr/>
        </p:nvSpPr>
        <p:spPr>
          <a:xfrm>
            <a:off x="384120" y="502920"/>
            <a:ext cx="2623320" cy="291600"/>
          </a:xfrm>
          <a:prstGeom prst="roundRect">
            <a:avLst>
              <a:gd name="adj" fmla="val 50000"/>
            </a:avLst>
          </a:prstGeom>
          <a:noFill/>
          <a:ln>
            <a:solidFill>
              <a:srgbClr val="9FC5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9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РЕЙС «ДВОЕ НА ОДНОМ МЕСТЕ»</a:t>
            </a:r>
            <a:endParaRPr lang="ru-R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TextBox 7"/>
          <p:cNvSpPr/>
          <p:nvPr/>
        </p:nvSpPr>
        <p:spPr>
          <a:xfrm>
            <a:off x="384120" y="1005840"/>
            <a:ext cx="3656520" cy="33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34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Решение —</a:t>
            </a:r>
            <a:endParaRPr lang="ru-RU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34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под таймером.</a:t>
            </a:r>
            <a:endParaRPr lang="ru-RU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599"/>
              </a:spcBef>
            </a:pPr>
            <a:r>
              <a:rPr lang="ru-RU" sz="13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Нелинейный диалог: каждое решение ведёт в свою ветку. Истекло время — срабатывает ветка с последствиями.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1599"/>
              </a:spcBef>
              <a:buClr>
                <a:srgbClr val="3F6FD1"/>
              </a:buClr>
              <a:buSzPct val="70000"/>
              <a:buFont typeface="Arial"/>
              <a:buChar char="■"/>
            </a:pPr>
            <a:r>
              <a:rPr lang="ru-RU" sz="13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Таймер 10–25 с </a:t>
            </a:r>
            <a:r>
              <a:rPr lang="ru-RU" sz="13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на критическое решение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3F6FD1"/>
              </a:buClr>
              <a:buSzPct val="70000"/>
              <a:buFont typeface="Arial"/>
              <a:buChar char="■"/>
            </a:pPr>
            <a:r>
              <a:rPr lang="ru-RU" sz="13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Ошибка: падение лояльности пассажира с 60 до 45, </a:t>
            </a:r>
            <a:r>
              <a:rPr lang="ru-RU" sz="13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риск жалобы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1"/>
          <p:cNvSpPr/>
          <p:nvPr/>
        </p:nvSpPr>
        <p:spPr>
          <a:xfrm>
            <a:off x="5961960" y="219600"/>
            <a:ext cx="2970720" cy="39949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Rectangle 2"/>
          <p:cNvSpPr/>
          <p:nvPr/>
        </p:nvSpPr>
        <p:spPr>
          <a:xfrm>
            <a:off x="5532120" y="4215240"/>
            <a:ext cx="428760" cy="4287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Rectangle 3"/>
          <p:cNvSpPr/>
          <p:nvPr/>
        </p:nvSpPr>
        <p:spPr>
          <a:xfrm>
            <a:off x="5102280" y="3813120"/>
            <a:ext cx="428760" cy="4287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" name="Picture 4" descr="ph_end.png"/>
          <p:cNvPicPr/>
          <p:nvPr/>
        </p:nvPicPr>
        <p:blipFill>
          <a:blip r:embed="rId1"/>
          <a:stretch/>
        </p:blipFill>
        <p:spPr>
          <a:xfrm>
            <a:off x="6540480" y="320040"/>
            <a:ext cx="1813320" cy="3793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" name="Rounded Rectangle 5"/>
          <p:cNvSpPr/>
          <p:nvPr/>
        </p:nvSpPr>
        <p:spPr>
          <a:xfrm>
            <a:off x="384120" y="502920"/>
            <a:ext cx="1494000" cy="291600"/>
          </a:xfrm>
          <a:prstGeom prst="roundRect">
            <a:avLst>
              <a:gd name="adj" fmla="val 50000"/>
            </a:avLst>
          </a:prstGeom>
          <a:noFill/>
          <a:ln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9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ДВОЙНАЯ ШКАЛА</a:t>
            </a:r>
            <a:endParaRPr lang="ru-R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6"/>
          <p:cNvSpPr/>
          <p:nvPr/>
        </p:nvSpPr>
        <p:spPr>
          <a:xfrm>
            <a:off x="384120" y="1005840"/>
            <a:ext cx="493668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26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Лояльность пассажира</a:t>
            </a:r>
            <a:endParaRPr lang="ru-R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6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и безопасность.</a:t>
            </a:r>
            <a:endParaRPr lang="ru-R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7"/>
          <p:cNvSpPr/>
          <p:nvPr/>
        </p:nvSpPr>
        <p:spPr>
          <a:xfrm>
            <a:off x="384120" y="2103120"/>
            <a:ext cx="40953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Лояльность пассажира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8"/>
          <p:cNvSpPr/>
          <p:nvPr/>
        </p:nvSpPr>
        <p:spPr>
          <a:xfrm>
            <a:off x="3566160" y="2103120"/>
            <a:ext cx="913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r">
              <a:lnSpc>
                <a:spcPct val="100000"/>
              </a:lnSpc>
            </a:pPr>
            <a:r>
              <a:rPr lang="ru-RU" sz="1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85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Rounded Rectangle 9"/>
          <p:cNvSpPr/>
          <p:nvPr/>
        </p:nvSpPr>
        <p:spPr>
          <a:xfrm>
            <a:off x="384120" y="2432160"/>
            <a:ext cx="4095360" cy="90360"/>
          </a:xfrm>
          <a:prstGeom prst="roundRect">
            <a:avLst>
              <a:gd name="adj" fmla="val 50000"/>
            </a:avLst>
          </a:prstGeom>
          <a:solidFill>
            <a:srgbClr val="2E58B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32040" rIns="182880" bIns="3204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Rounded Rectangle 10"/>
          <p:cNvSpPr/>
          <p:nvPr/>
        </p:nvSpPr>
        <p:spPr>
          <a:xfrm>
            <a:off x="384120" y="2432160"/>
            <a:ext cx="3480840" cy="90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32040" rIns="182880" bIns="3204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11"/>
          <p:cNvSpPr/>
          <p:nvPr/>
        </p:nvSpPr>
        <p:spPr>
          <a:xfrm>
            <a:off x="384120" y="2670120"/>
            <a:ext cx="40953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Рейтинг безопасности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12"/>
          <p:cNvSpPr/>
          <p:nvPr/>
        </p:nvSpPr>
        <p:spPr>
          <a:xfrm>
            <a:off x="3566160" y="2670120"/>
            <a:ext cx="913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r">
              <a:lnSpc>
                <a:spcPct val="100000"/>
              </a:lnSpc>
            </a:pPr>
            <a:r>
              <a:rPr lang="ru-RU" sz="1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85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Rounded Rectangle 13"/>
          <p:cNvSpPr/>
          <p:nvPr/>
        </p:nvSpPr>
        <p:spPr>
          <a:xfrm>
            <a:off x="384120" y="2999160"/>
            <a:ext cx="4095360" cy="90360"/>
          </a:xfrm>
          <a:prstGeom prst="roundRect">
            <a:avLst>
              <a:gd name="adj" fmla="val 50000"/>
            </a:avLst>
          </a:prstGeom>
          <a:solidFill>
            <a:srgbClr val="2E58B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32040" rIns="182880" bIns="3204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Rounded Rectangle 14"/>
          <p:cNvSpPr/>
          <p:nvPr/>
        </p:nvSpPr>
        <p:spPr>
          <a:xfrm>
            <a:off x="384120" y="2999160"/>
            <a:ext cx="3480840" cy="90360"/>
          </a:xfrm>
          <a:prstGeom prst="roundRect">
            <a:avLst>
              <a:gd name="adj" fmla="val 50000"/>
            </a:avLst>
          </a:prstGeom>
          <a:solidFill>
            <a:srgbClr val="9FC5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32040" rIns="182880" bIns="3204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5"/>
          <p:cNvSpPr/>
          <p:nvPr/>
        </p:nvSpPr>
        <p:spPr>
          <a:xfrm>
            <a:off x="384120" y="3291840"/>
            <a:ext cx="502812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3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После рейса — разбор каждого решения: что пошло не так, как было правильно и кого звать. Не просто «верно / неверно».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ru-RU" sz="2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+142 </a:t>
            </a:r>
            <a:r>
              <a:rPr lang="ru-RU" sz="12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очка компетенций за рейс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ounded Rectangle 1"/>
          <p:cNvSpPr/>
          <p:nvPr/>
        </p:nvSpPr>
        <p:spPr>
          <a:xfrm>
            <a:off x="384120" y="502920"/>
            <a:ext cx="1146600" cy="291600"/>
          </a:xfrm>
          <a:prstGeom prst="roundRect">
            <a:avLst>
              <a:gd name="adj" fmla="val 50000"/>
            </a:avLst>
          </a:prstGeom>
          <a:noFill/>
          <a:ln>
            <a:solidFill>
              <a:srgbClr val="9FC5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9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СПЕЦИВЕНТ</a:t>
            </a:r>
            <a:endParaRPr lang="ru-R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2"/>
          <p:cNvSpPr/>
          <p:nvPr/>
        </p:nvSpPr>
        <p:spPr>
          <a:xfrm>
            <a:off x="384120" y="1005840"/>
            <a:ext cx="4113720" cy="34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28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Посреди смены —</a:t>
            </a:r>
            <a:endParaRPr lang="ru-RU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8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внезапный вызов.</a:t>
            </a:r>
            <a:endParaRPr lang="ru-RU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1800"/>
              </a:spcBef>
              <a:buClr>
                <a:srgbClr val="3F6FD1"/>
              </a:buClr>
              <a:buSzPct val="70000"/>
              <a:buFont typeface="Arial"/>
              <a:buChar char="■"/>
            </a:pPr>
            <a:r>
              <a:rPr lang="ru-RU" sz="1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Голосовое сообщение </a:t>
            </a:r>
            <a:r>
              <a:rPr lang="ru-RU" sz="12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— учимся воспринимать информацию на слух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799"/>
              </a:spcBef>
              <a:buClr>
                <a:srgbClr val="3F6FD1"/>
              </a:buClr>
              <a:buSzPct val="70000"/>
              <a:buFont typeface="Arial"/>
              <a:buChar char="■"/>
            </a:pPr>
            <a:r>
              <a:rPr lang="ru-RU" sz="1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Хард-уровень </a:t>
            </a:r>
            <a:r>
              <a:rPr lang="ru-RU" sz="12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— голосовое на английском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799"/>
              </a:spcBef>
              <a:buClr>
                <a:srgbClr val="3F6FD1"/>
              </a:buClr>
              <a:buSzPct val="70000"/>
              <a:buFont typeface="Arial"/>
              <a:buChar char="■"/>
            </a:pPr>
            <a:r>
              <a:rPr lang="ru-RU" sz="1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Свободный ответ </a:t>
            </a:r>
            <a:r>
              <a:rPr lang="ru-RU" sz="12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оценивает ИИ-наставник по регламенту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799"/>
              </a:spcBef>
              <a:buClr>
                <a:srgbClr val="3F6FD1"/>
              </a:buClr>
              <a:buSzPct val="70000"/>
              <a:buFont typeface="Arial"/>
              <a:buChar char="■"/>
            </a:pPr>
            <a:r>
              <a:rPr lang="ru-RU" sz="1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Руководитель запускает </a:t>
            </a:r>
            <a:r>
              <a:rPr lang="ru-RU" sz="12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для всех или выбранных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Rounded Rectangle 3"/>
          <p:cNvSpPr/>
          <p:nvPr/>
        </p:nvSpPr>
        <p:spPr>
          <a:xfrm>
            <a:off x="4846320" y="502920"/>
            <a:ext cx="3930840" cy="1644840"/>
          </a:xfrm>
          <a:prstGeom prst="roundRect">
            <a:avLst>
              <a:gd name="adj" fmla="val 8000"/>
            </a:avLst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tIns="182880" rIns="182880" bIns="91440" anchor="t">
            <a:noAutofit/>
          </a:bodyPr>
          <a:p>
            <a:pPr>
              <a:lnSpc>
                <a:spcPct val="100000"/>
              </a:lnSpc>
            </a:pPr>
            <a:r>
              <a:rPr lang="ru-RU" sz="9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ВЫЗОВ ОТ РУКОВОДИТЕЛЯ</a:t>
            </a:r>
            <a:endParaRPr lang="ru-R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ru-RU" sz="16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Hard: голосовое на английском</a:t>
            </a:r>
            <a:endParaRPr lang="ru-RU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Rounded Rectangle 4"/>
          <p:cNvSpPr/>
          <p:nvPr/>
        </p:nvSpPr>
        <p:spPr>
          <a:xfrm>
            <a:off x="5074920" y="1508760"/>
            <a:ext cx="3473640" cy="456120"/>
          </a:xfrm>
          <a:prstGeom prst="roundRect">
            <a:avLst>
              <a:gd name="adj" fmla="val 50000"/>
            </a:avLst>
          </a:prstGeom>
          <a:solidFill>
            <a:srgbClr val="2E58B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Oval 5"/>
          <p:cNvSpPr/>
          <p:nvPr/>
        </p:nvSpPr>
        <p:spPr>
          <a:xfrm>
            <a:off x="5129640" y="1554480"/>
            <a:ext cx="364680" cy="36468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520" tIns="128880" rIns="182520" bIns="12888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Isosceles Triangle 6"/>
          <p:cNvSpPr/>
          <p:nvPr/>
        </p:nvSpPr>
        <p:spPr>
          <a:xfrm rot="5400000">
            <a:off x="5258880" y="1645920"/>
            <a:ext cx="145080" cy="181800"/>
          </a:xfrm>
          <a:prstGeom prst="triangle">
            <a:avLst>
              <a:gd name="adj" fmla="val 50000"/>
            </a:avLst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ru-RU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6" name="Rounded Rectangle 7"/>
          <p:cNvSpPr/>
          <p:nvPr/>
        </p:nvSpPr>
        <p:spPr>
          <a:xfrm>
            <a:off x="5669280" y="1636920"/>
            <a:ext cx="44640" cy="20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93600" rIns="22320" bIns="9360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Rounded Rectangle 8"/>
          <p:cNvSpPr/>
          <p:nvPr/>
        </p:nvSpPr>
        <p:spPr>
          <a:xfrm>
            <a:off x="5767200" y="1680840"/>
            <a:ext cx="44640" cy="112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49680" rIns="22320" bIns="4968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Rounded Rectangle 9"/>
          <p:cNvSpPr/>
          <p:nvPr/>
        </p:nvSpPr>
        <p:spPr>
          <a:xfrm>
            <a:off x="5865120" y="1680840"/>
            <a:ext cx="44640" cy="112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49680" rIns="22320" bIns="4968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Rounded Rectangle 10"/>
          <p:cNvSpPr/>
          <p:nvPr/>
        </p:nvSpPr>
        <p:spPr>
          <a:xfrm>
            <a:off x="5962680" y="1636920"/>
            <a:ext cx="44640" cy="20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93600" rIns="22320" bIns="9360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Rounded Rectangle 11"/>
          <p:cNvSpPr/>
          <p:nvPr/>
        </p:nvSpPr>
        <p:spPr>
          <a:xfrm>
            <a:off x="6060600" y="1695240"/>
            <a:ext cx="44640" cy="83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34920" rIns="22320" bIns="3492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Rounded Rectangle 12"/>
          <p:cNvSpPr/>
          <p:nvPr/>
        </p:nvSpPr>
        <p:spPr>
          <a:xfrm>
            <a:off x="6158520" y="1666080"/>
            <a:ext cx="44640" cy="141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64080" rIns="22320" bIns="6408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Rounded Rectangle 13"/>
          <p:cNvSpPr/>
          <p:nvPr/>
        </p:nvSpPr>
        <p:spPr>
          <a:xfrm>
            <a:off x="6256440" y="1651320"/>
            <a:ext cx="44640" cy="17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78840" rIns="22320" bIns="7884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Rounded Rectangle 14"/>
          <p:cNvSpPr/>
          <p:nvPr/>
        </p:nvSpPr>
        <p:spPr>
          <a:xfrm>
            <a:off x="6354000" y="1710000"/>
            <a:ext cx="44640" cy="53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20160" rIns="22320" bIns="2016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Rounded Rectangle 15"/>
          <p:cNvSpPr/>
          <p:nvPr/>
        </p:nvSpPr>
        <p:spPr>
          <a:xfrm>
            <a:off x="6451920" y="1651320"/>
            <a:ext cx="44640" cy="17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78840" rIns="22320" bIns="7884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Rounded Rectangle 16"/>
          <p:cNvSpPr/>
          <p:nvPr/>
        </p:nvSpPr>
        <p:spPr>
          <a:xfrm>
            <a:off x="6549840" y="1666080"/>
            <a:ext cx="44640" cy="141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64080" rIns="22320" bIns="6408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Rounded Rectangle 17"/>
          <p:cNvSpPr/>
          <p:nvPr/>
        </p:nvSpPr>
        <p:spPr>
          <a:xfrm>
            <a:off x="6647760" y="1695240"/>
            <a:ext cx="44640" cy="83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34920" rIns="22320" bIns="3492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Rounded Rectangle 18"/>
          <p:cNvSpPr/>
          <p:nvPr/>
        </p:nvSpPr>
        <p:spPr>
          <a:xfrm>
            <a:off x="6745680" y="1636920"/>
            <a:ext cx="44640" cy="20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93600" rIns="22320" bIns="9360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Rounded Rectangle 19"/>
          <p:cNvSpPr/>
          <p:nvPr/>
        </p:nvSpPr>
        <p:spPr>
          <a:xfrm>
            <a:off x="6843240" y="1680840"/>
            <a:ext cx="44640" cy="112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49680" rIns="22320" bIns="4968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Rounded Rectangle 20"/>
          <p:cNvSpPr/>
          <p:nvPr/>
        </p:nvSpPr>
        <p:spPr>
          <a:xfrm>
            <a:off x="6941160" y="1680840"/>
            <a:ext cx="44640" cy="112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49680" rIns="22320" bIns="4968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Rounded Rectangle 21"/>
          <p:cNvSpPr/>
          <p:nvPr/>
        </p:nvSpPr>
        <p:spPr>
          <a:xfrm>
            <a:off x="7039080" y="1636920"/>
            <a:ext cx="44640" cy="20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93600" rIns="22320" bIns="9360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Rounded Rectangle 22"/>
          <p:cNvSpPr/>
          <p:nvPr/>
        </p:nvSpPr>
        <p:spPr>
          <a:xfrm>
            <a:off x="7137000" y="1695240"/>
            <a:ext cx="44640" cy="83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34920" rIns="22320" bIns="3492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Rounded Rectangle 23"/>
          <p:cNvSpPr/>
          <p:nvPr/>
        </p:nvSpPr>
        <p:spPr>
          <a:xfrm>
            <a:off x="7234560" y="1666080"/>
            <a:ext cx="44640" cy="141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64080" rIns="22320" bIns="6408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Rounded Rectangle 24"/>
          <p:cNvSpPr/>
          <p:nvPr/>
        </p:nvSpPr>
        <p:spPr>
          <a:xfrm>
            <a:off x="7332480" y="1651320"/>
            <a:ext cx="44640" cy="17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78840" rIns="22320" bIns="7884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Rounded Rectangle 25"/>
          <p:cNvSpPr/>
          <p:nvPr/>
        </p:nvSpPr>
        <p:spPr>
          <a:xfrm>
            <a:off x="7430400" y="1710000"/>
            <a:ext cx="44640" cy="53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20160" rIns="22320" bIns="2016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Rounded Rectangle 26"/>
          <p:cNvSpPr/>
          <p:nvPr/>
        </p:nvSpPr>
        <p:spPr>
          <a:xfrm>
            <a:off x="7528320" y="1651320"/>
            <a:ext cx="44640" cy="17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78840" rIns="22320" bIns="7884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Rounded Rectangle 27"/>
          <p:cNvSpPr/>
          <p:nvPr/>
        </p:nvSpPr>
        <p:spPr>
          <a:xfrm>
            <a:off x="7626240" y="1666080"/>
            <a:ext cx="44640" cy="141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64080" rIns="22320" bIns="6408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Rounded Rectangle 28"/>
          <p:cNvSpPr/>
          <p:nvPr/>
        </p:nvSpPr>
        <p:spPr>
          <a:xfrm>
            <a:off x="7723800" y="1695240"/>
            <a:ext cx="44640" cy="83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34920" rIns="22320" bIns="3492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Rounded Rectangle 29"/>
          <p:cNvSpPr/>
          <p:nvPr/>
        </p:nvSpPr>
        <p:spPr>
          <a:xfrm>
            <a:off x="7821720" y="1636920"/>
            <a:ext cx="44640" cy="20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93600" rIns="22320" bIns="9360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Rounded Rectangle 30"/>
          <p:cNvSpPr/>
          <p:nvPr/>
        </p:nvSpPr>
        <p:spPr>
          <a:xfrm>
            <a:off x="7919640" y="1680840"/>
            <a:ext cx="44640" cy="112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49680" rIns="22320" bIns="4968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Rounded Rectangle 31"/>
          <p:cNvSpPr/>
          <p:nvPr/>
        </p:nvSpPr>
        <p:spPr>
          <a:xfrm>
            <a:off x="8017560" y="1680840"/>
            <a:ext cx="44640" cy="112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49680" rIns="22320" bIns="4968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Rounded Rectangle 32"/>
          <p:cNvSpPr/>
          <p:nvPr/>
        </p:nvSpPr>
        <p:spPr>
          <a:xfrm>
            <a:off x="8115480" y="1636920"/>
            <a:ext cx="44640" cy="20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93600" rIns="22320" bIns="9360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Rounded Rectangle 33"/>
          <p:cNvSpPr/>
          <p:nvPr/>
        </p:nvSpPr>
        <p:spPr>
          <a:xfrm>
            <a:off x="8213040" y="1695240"/>
            <a:ext cx="44640" cy="83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34920" rIns="22320" bIns="3492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Rounded Rectangle 34"/>
          <p:cNvSpPr/>
          <p:nvPr/>
        </p:nvSpPr>
        <p:spPr>
          <a:xfrm>
            <a:off x="8310960" y="1666080"/>
            <a:ext cx="44640" cy="141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320" tIns="64080" rIns="22320" bIns="6408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Rounded Rectangle 35"/>
          <p:cNvSpPr/>
          <p:nvPr/>
        </p:nvSpPr>
        <p:spPr>
          <a:xfrm>
            <a:off x="4846320" y="2331720"/>
            <a:ext cx="3930840" cy="1599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tIns="182880" rIns="228600" bIns="137160" anchor="t">
            <a:noAutofit/>
          </a:bodyPr>
          <a:p>
            <a:pPr>
              <a:lnSpc>
                <a:spcPct val="100000"/>
              </a:lnSpc>
            </a:pPr>
            <a:r>
              <a:rPr lang="ru-RU" sz="900" b="0" u="none" strike="noStrike">
                <a:solidFill>
                  <a:srgbClr val="5B6673"/>
                </a:solidFill>
                <a:effectLst/>
                <a:uFillTx/>
                <a:latin typeface="Moscow Sans Regular"/>
                <a:ea typeface="Moscow Sans Regular"/>
              </a:rPr>
              <a:t>ВАШ ОТВЕТ</a:t>
            </a:r>
            <a:endParaRPr lang="ru-RU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ru-RU" sz="1200" b="0" u="none" strike="noStrike">
                <a:solidFill>
                  <a:srgbClr val="1A1230"/>
                </a:solidFill>
                <a:effectLst/>
                <a:uFillTx/>
                <a:latin typeface="Moscow Sans Regular"/>
                <a:ea typeface="Moscow Sans Regular"/>
              </a:rPr>
              <a:t>Please stay calm, I am here to help. I'm sorry, we can't give medicine, but the train manager is coming and we will find a doctor.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1"/>
          <p:cNvSpPr/>
          <p:nvPr/>
        </p:nvSpPr>
        <p:spPr>
          <a:xfrm>
            <a:off x="8357760" y="320040"/>
            <a:ext cx="428760" cy="428760"/>
          </a:xfrm>
          <a:prstGeom prst="rect">
            <a:avLst/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Rounded Rectangle 2"/>
          <p:cNvSpPr/>
          <p:nvPr/>
        </p:nvSpPr>
        <p:spPr>
          <a:xfrm>
            <a:off x="384120" y="502920"/>
            <a:ext cx="1407240" cy="291600"/>
          </a:xfrm>
          <a:prstGeom prst="roundRect">
            <a:avLst>
              <a:gd name="adj" fmla="val 50000"/>
            </a:avLst>
          </a:prstGeom>
          <a:noFill/>
          <a:ln>
            <a:solidFill>
              <a:srgbClr val="9FC5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9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РАЗ В НЕДЕЛЮ</a:t>
            </a:r>
            <a:endParaRPr lang="ru-R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3"/>
          <p:cNvSpPr/>
          <p:nvPr/>
        </p:nvSpPr>
        <p:spPr>
          <a:xfrm>
            <a:off x="384120" y="1005840"/>
            <a:ext cx="457092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36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Турнир недели</a:t>
            </a:r>
            <a:endParaRPr lang="ru-RU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ru-RU" sz="14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Все заходят одновременно и отвечают на время. Решают точность и скорость.</a:t>
            </a:r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4"/>
          <p:cNvSpPr/>
          <p:nvPr/>
        </p:nvSpPr>
        <p:spPr>
          <a:xfrm>
            <a:off x="384120" y="2834640"/>
            <a:ext cx="100476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34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10</a:t>
            </a:r>
            <a:endParaRPr lang="ru-RU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</a:pPr>
            <a:r>
              <a:rPr lang="ru-RU" sz="11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вопросов</a:t>
            </a:r>
            <a:endParaRPr lang="ru-R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5"/>
          <p:cNvSpPr/>
          <p:nvPr/>
        </p:nvSpPr>
        <p:spPr>
          <a:xfrm>
            <a:off x="1508760" y="2834640"/>
            <a:ext cx="118764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34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15 с</a:t>
            </a:r>
            <a:endParaRPr lang="ru-RU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</a:pPr>
            <a:r>
              <a:rPr lang="ru-RU" sz="11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на ответ</a:t>
            </a:r>
            <a:endParaRPr lang="ru-R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Box 6"/>
          <p:cNvSpPr/>
          <p:nvPr/>
        </p:nvSpPr>
        <p:spPr>
          <a:xfrm>
            <a:off x="2834640" y="2834640"/>
            <a:ext cx="210204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34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Топ-10</a:t>
            </a:r>
            <a:endParaRPr lang="ru-RU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</a:pPr>
            <a:r>
              <a:rPr lang="ru-RU" sz="11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трофей и +100 очков компетенций</a:t>
            </a:r>
            <a:endParaRPr lang="ru-R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1" name="Picture 7" descr="ph_tournament.png"/>
          <p:cNvPicPr/>
          <p:nvPr/>
        </p:nvPicPr>
        <p:blipFill>
          <a:blip r:embed="rId1"/>
          <a:stretch/>
        </p:blipFill>
        <p:spPr>
          <a:xfrm>
            <a:off x="5669280" y="502920"/>
            <a:ext cx="1857240" cy="3885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Rounded Rectangle 1"/>
          <p:cNvSpPr/>
          <p:nvPr/>
        </p:nvSpPr>
        <p:spPr>
          <a:xfrm>
            <a:off x="384120" y="502920"/>
            <a:ext cx="1841400" cy="291600"/>
          </a:xfrm>
          <a:prstGeom prst="roundRect">
            <a:avLst>
              <a:gd name="adj" fmla="val 50000"/>
            </a:avLst>
          </a:prstGeom>
          <a:noFill/>
          <a:ln>
            <a:solidFill>
              <a:srgbClr val="9FC5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9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ПРОФИЛЬ И РЕЙТИНГ</a:t>
            </a:r>
            <a:endParaRPr lang="ru-R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2"/>
          <p:cNvSpPr/>
          <p:nvPr/>
        </p:nvSpPr>
        <p:spPr>
          <a:xfrm>
            <a:off x="384120" y="1005840"/>
            <a:ext cx="4433760" cy="342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28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Прогресс виден</a:t>
            </a:r>
            <a:endParaRPr lang="ru-RU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8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каждый день.</a:t>
            </a:r>
            <a:endParaRPr lang="ru-RU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1599"/>
              </a:spcBef>
              <a:buClr>
                <a:srgbClr val="3F6FD1"/>
              </a:buClr>
              <a:buSzPct val="70000"/>
              <a:buFont typeface="Arial"/>
              <a:buChar char="■"/>
            </a:pPr>
            <a:r>
              <a:rPr lang="ru-RU" sz="1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8 уровней </a:t>
            </a:r>
            <a:r>
              <a:rPr lang="ru-RU" sz="12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— от «Стажёра» до «Легенды магистрали»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799"/>
              </a:spcBef>
              <a:buClr>
                <a:srgbClr val="3F6FD1"/>
              </a:buClr>
              <a:buSzPct val="70000"/>
              <a:buFont typeface="Arial"/>
              <a:buChar char="■"/>
            </a:pPr>
            <a:r>
              <a:rPr lang="ru-RU" sz="1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14 ачивок </a:t>
            </a:r>
            <a:r>
              <a:rPr lang="ru-RU" sz="12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и турнирные трофеи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799"/>
              </a:spcBef>
              <a:buClr>
                <a:srgbClr val="3F6FD1"/>
              </a:buClr>
              <a:buSzPct val="70000"/>
              <a:buFont typeface="Arial"/>
              <a:buChar char="■"/>
            </a:pPr>
            <a:r>
              <a:rPr lang="ru-RU" sz="1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Рейтинг </a:t>
            </a:r>
            <a:r>
              <a:rPr lang="ru-RU" sz="12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по компании, депо и бригаде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799"/>
              </a:spcBef>
              <a:buClr>
                <a:srgbClr val="3F6FD1"/>
              </a:buClr>
              <a:buSzPct val="70000"/>
              <a:buFont typeface="Arial"/>
              <a:buChar char="■"/>
            </a:pPr>
            <a:r>
              <a:rPr lang="ru-RU" sz="1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Адаптивная сложность: </a:t>
            </a:r>
            <a:r>
              <a:rPr lang="ru-RU" sz="12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следующий рейс — по слабым местам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799"/>
              </a:spcBef>
              <a:buClr>
                <a:srgbClr val="3F6FD1"/>
              </a:buClr>
              <a:buSzPct val="70000"/>
              <a:buFont typeface="Arial"/>
              <a:buChar char="■"/>
            </a:pPr>
            <a:r>
              <a:rPr lang="ru-RU" sz="1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Уведомления: </a:t>
            </a:r>
            <a:r>
              <a:rPr lang="ru-RU" sz="12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новые сценарии, турнир, «рейтинг скоро обнулится»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4" name="Picture 3" descr="ph_leaderboard.png"/>
          <p:cNvPicPr/>
          <p:nvPr/>
        </p:nvPicPr>
        <p:blipFill>
          <a:blip r:embed="rId1"/>
          <a:stretch/>
        </p:blipFill>
        <p:spPr>
          <a:xfrm>
            <a:off x="5074920" y="411480"/>
            <a:ext cx="1791720" cy="3747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5" name="Picture 4" descr="ph_profile.png"/>
          <p:cNvPicPr/>
          <p:nvPr/>
        </p:nvPicPr>
        <p:blipFill>
          <a:blip r:embed="rId2"/>
          <a:stretch/>
        </p:blipFill>
        <p:spPr>
          <a:xfrm>
            <a:off x="7004880" y="411480"/>
            <a:ext cx="1791720" cy="3747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Picture 1" descr="br_employees.png"/>
          <p:cNvPicPr/>
          <p:nvPr/>
        </p:nvPicPr>
        <p:blipFill>
          <a:blip r:embed="rId1"/>
          <a:stretch/>
        </p:blipFill>
        <p:spPr>
          <a:xfrm>
            <a:off x="384120" y="502920"/>
            <a:ext cx="5576760" cy="3680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" name="Rounded Rectangle 2"/>
          <p:cNvSpPr/>
          <p:nvPr/>
        </p:nvSpPr>
        <p:spPr>
          <a:xfrm>
            <a:off x="1535760" y="1604520"/>
            <a:ext cx="4266000" cy="249840"/>
          </a:xfrm>
          <a:prstGeom prst="roundRect">
            <a:avLst>
              <a:gd name="adj" fmla="val 20000"/>
            </a:avLst>
          </a:prstGeom>
          <a:noFill/>
          <a:ln w="28575">
            <a:solidFill>
              <a:srgbClr val="9FC5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10520" rIns="182880" bIns="11052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Rounded Rectangle 4"/>
          <p:cNvSpPr/>
          <p:nvPr/>
        </p:nvSpPr>
        <p:spPr>
          <a:xfrm>
            <a:off x="6263640" y="502920"/>
            <a:ext cx="1841400" cy="291600"/>
          </a:xfrm>
          <a:prstGeom prst="roundRect">
            <a:avLst>
              <a:gd name="adj" fmla="val 50000"/>
            </a:avLst>
          </a:prstGeom>
          <a:noFill/>
          <a:ln>
            <a:solidFill>
              <a:srgbClr val="9FC5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9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РУКОВОДИТЕЛЬ И HR</a:t>
            </a:r>
            <a:endParaRPr lang="ru-R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Box 5"/>
          <p:cNvSpPr/>
          <p:nvPr/>
        </p:nvSpPr>
        <p:spPr>
          <a:xfrm>
            <a:off x="6263640" y="1005840"/>
            <a:ext cx="2559240" cy="33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26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Видно,</a:t>
            </a:r>
            <a:endParaRPr lang="ru-R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6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кому нужна</a:t>
            </a:r>
            <a:endParaRPr lang="ru-R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6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помощь.</a:t>
            </a:r>
            <a:endParaRPr lang="ru-R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599"/>
              </a:spcBef>
            </a:pPr>
            <a:r>
              <a:rPr lang="ru-RU" sz="12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Дашборд активности, частые ошибки, карточки сотрудников и готовность к повышению. Отчёты для HR — в Excel и JSON.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Rounded Rectangle 1"/>
          <p:cNvSpPr/>
          <p:nvPr/>
        </p:nvSpPr>
        <p:spPr>
          <a:xfrm>
            <a:off x="384120" y="502920"/>
            <a:ext cx="1407240" cy="291600"/>
          </a:xfrm>
          <a:prstGeom prst="roundRect">
            <a:avLst>
              <a:gd name="adj" fmla="val 50000"/>
            </a:avLst>
          </a:prstGeom>
          <a:noFill/>
          <a:ln>
            <a:solidFill>
              <a:srgbClr val="9FC5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9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ИИ-АССИСТЕНТ</a:t>
            </a:r>
            <a:endParaRPr lang="ru-R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Box 2"/>
          <p:cNvSpPr/>
          <p:nvPr/>
        </p:nvSpPr>
        <p:spPr>
          <a:xfrm>
            <a:off x="384120" y="1005840"/>
            <a:ext cx="310788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28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Спросите</a:t>
            </a:r>
            <a:endParaRPr lang="ru-RU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8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обычными словами.</a:t>
            </a:r>
            <a:endParaRPr lang="ru-RU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Rounded Rectangle 3"/>
          <p:cNvSpPr/>
          <p:nvPr/>
        </p:nvSpPr>
        <p:spPr>
          <a:xfrm>
            <a:off x="384120" y="2788920"/>
            <a:ext cx="3016440" cy="1096200"/>
          </a:xfrm>
          <a:prstGeom prst="roundRect">
            <a:avLst>
              <a:gd name="adj" fmla="val 12000"/>
            </a:avLst>
          </a:prstGeom>
          <a:solidFill>
            <a:srgbClr val="271D47"/>
          </a:solidFill>
          <a:ln w="12700">
            <a:solidFill>
              <a:srgbClr val="3A2E6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09800" rIns="182880" bIns="109800" anchor="ctr">
            <a:noAutofit/>
          </a:bodyPr>
          <a:p>
            <a:pPr>
              <a:lnSpc>
                <a:spcPct val="100000"/>
              </a:lnSpc>
            </a:pPr>
            <a:r>
              <a:rPr lang="ru-RU" sz="1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«Покажи всех проводников, у кого упал рейтинг безопасности за месяц»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3" name="Picture 4" descr="br_assistant.png"/>
          <p:cNvPicPr/>
          <p:nvPr/>
        </p:nvPicPr>
        <p:blipFill>
          <a:blip r:embed="rId1"/>
          <a:stretch/>
        </p:blipFill>
        <p:spPr>
          <a:xfrm>
            <a:off x="3703320" y="502920"/>
            <a:ext cx="5073840" cy="3348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4" name="TextBox 5"/>
          <p:cNvSpPr/>
          <p:nvPr/>
        </p:nvSpPr>
        <p:spPr>
          <a:xfrm>
            <a:off x="3703320" y="3989520"/>
            <a:ext cx="50738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Ответ строится по текущим данным · GigaChat</a:t>
            </a:r>
            <a:endParaRPr lang="ru-R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Picture 1" descr="br_generator.png"/>
          <p:cNvPicPr/>
          <p:nvPr/>
        </p:nvPicPr>
        <p:blipFill>
          <a:blip r:embed="rId1"/>
          <a:stretch/>
        </p:blipFill>
        <p:spPr>
          <a:xfrm>
            <a:off x="384120" y="384120"/>
            <a:ext cx="5256720" cy="38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" name="Rounded Rectangle 2"/>
          <p:cNvSpPr/>
          <p:nvPr/>
        </p:nvSpPr>
        <p:spPr>
          <a:xfrm>
            <a:off x="6035040" y="502920"/>
            <a:ext cx="1407240" cy="291600"/>
          </a:xfrm>
          <a:prstGeom prst="roundRect">
            <a:avLst>
              <a:gd name="adj" fmla="val 50000"/>
            </a:avLst>
          </a:prstGeom>
          <a:noFill/>
          <a:ln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9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ГЕНЕРАЦИЯ ИИ</a:t>
            </a:r>
            <a:endParaRPr lang="ru-R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Box 3"/>
          <p:cNvSpPr/>
          <p:nvPr/>
        </p:nvSpPr>
        <p:spPr>
          <a:xfrm>
            <a:off x="6035040" y="1005840"/>
            <a:ext cx="2742120" cy="33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26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Сценарий</a:t>
            </a:r>
            <a:endParaRPr lang="ru-R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6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из ТЗ</a:t>
            </a:r>
            <a:endParaRPr lang="ru-R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6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инструктора.</a:t>
            </a:r>
            <a:endParaRPr lang="ru-R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599"/>
              </a:spcBef>
            </a:pPr>
            <a:r>
              <a:rPr lang="ru-RU" sz="1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ИИ собирает черновик ветвящегося сценария: реплики, варианты ответа, таймеры и влияние на шкалы. Инструктор правит его в редакторе графа и публикует — без правки кода.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TextBox 1"/>
          <p:cNvSpPr/>
          <p:nvPr/>
        </p:nvSpPr>
        <p:spPr>
          <a:xfrm>
            <a:off x="384120" y="27432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28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Модульно, с открытым API.</a:t>
            </a:r>
            <a:endParaRPr lang="ru-RU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Box 2"/>
          <p:cNvSpPr/>
          <p:nvPr/>
        </p:nvSpPr>
        <p:spPr>
          <a:xfrm>
            <a:off x="384120" y="1005840"/>
            <a:ext cx="137052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ВХОД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Rounded Rectangle 3"/>
          <p:cNvSpPr/>
          <p:nvPr/>
        </p:nvSpPr>
        <p:spPr>
          <a:xfrm>
            <a:off x="1828800" y="1005840"/>
            <a:ext cx="3409560" cy="620640"/>
          </a:xfrm>
          <a:prstGeom prst="roundRect">
            <a:avLst>
              <a:gd name="adj" fmla="val 12000"/>
            </a:avLst>
          </a:prstGeom>
          <a:solidFill>
            <a:srgbClr val="271D47"/>
          </a:solidFill>
          <a:ln w="12700">
            <a:solidFill>
              <a:srgbClr val="3A2E6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67000" tIns="54720" rIns="109800" bIns="54720" anchor="ctr">
            <a:noAutofit/>
          </a:bodyPr>
          <a:p>
            <a:pPr>
              <a:lnSpc>
                <a:spcPct val="100000"/>
              </a:lnSpc>
            </a:pPr>
            <a:r>
              <a:rPr lang="ru-RU" sz="13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Web view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браузер или встраивание в приложение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Rounded Rectangle 4"/>
          <p:cNvSpPr/>
          <p:nvPr/>
        </p:nvSpPr>
        <p:spPr>
          <a:xfrm>
            <a:off x="1956960" y="1143000"/>
            <a:ext cx="346320" cy="346320"/>
          </a:xfrm>
          <a:prstGeom prst="roundRect">
            <a:avLst>
              <a:gd name="adj" fmla="val 22000"/>
            </a:avLst>
          </a:prstGeom>
          <a:solidFill>
            <a:srgbClr val="3A2E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3160" tIns="137160" rIns="17316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2" name="Picture 5" descr="devices.png"/>
          <p:cNvPicPr/>
          <p:nvPr/>
        </p:nvPicPr>
        <p:blipFill>
          <a:blip r:embed="rId1"/>
          <a:stretch/>
        </p:blipFill>
        <p:spPr>
          <a:xfrm>
            <a:off x="2011680" y="1197720"/>
            <a:ext cx="236520" cy="23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3" name="Rounded Rectangle 6"/>
          <p:cNvSpPr/>
          <p:nvPr/>
        </p:nvSpPr>
        <p:spPr>
          <a:xfrm>
            <a:off x="5367600" y="1005840"/>
            <a:ext cx="3409560" cy="620640"/>
          </a:xfrm>
          <a:prstGeom prst="roundRect">
            <a:avLst>
              <a:gd name="adj" fmla="val 12000"/>
            </a:avLst>
          </a:prstGeom>
          <a:solidFill>
            <a:srgbClr val="271D47"/>
          </a:solidFill>
          <a:ln w="12700">
            <a:solidFill>
              <a:srgbClr val="3A2E6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67000" tIns="54720" rIns="109800" bIns="54720" anchor="ctr">
            <a:noAutofit/>
          </a:bodyPr>
          <a:p>
            <a:pPr>
              <a:lnSpc>
                <a:spcPct val="100000"/>
              </a:lnSpc>
            </a:pPr>
            <a:r>
              <a:rPr lang="ru-RU" sz="13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Caddy · nginx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HTTPS, статика, прокси API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Rounded Rectangle 7"/>
          <p:cNvSpPr/>
          <p:nvPr/>
        </p:nvSpPr>
        <p:spPr>
          <a:xfrm>
            <a:off x="5495400" y="1143000"/>
            <a:ext cx="346320" cy="346320"/>
          </a:xfrm>
          <a:prstGeom prst="roundRect">
            <a:avLst>
              <a:gd name="adj" fmla="val 22000"/>
            </a:avLst>
          </a:prstGeom>
          <a:solidFill>
            <a:srgbClr val="3A2E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3160" tIns="137160" rIns="17316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5" name="Picture 8" descr="caddy.png"/>
          <p:cNvPicPr/>
          <p:nvPr/>
        </p:nvPicPr>
        <p:blipFill>
          <a:blip r:embed="rId2"/>
          <a:stretch/>
        </p:blipFill>
        <p:spPr>
          <a:xfrm>
            <a:off x="5550480" y="1197720"/>
            <a:ext cx="236520" cy="23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6" name="TextBox 9"/>
          <p:cNvSpPr/>
          <p:nvPr/>
        </p:nvSpPr>
        <p:spPr>
          <a:xfrm>
            <a:off x="384120" y="1755720"/>
            <a:ext cx="137052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ПРИЛОЖЕНИЕ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Rounded Rectangle 10"/>
          <p:cNvSpPr/>
          <p:nvPr/>
        </p:nvSpPr>
        <p:spPr>
          <a:xfrm>
            <a:off x="1828800" y="1755720"/>
            <a:ext cx="2230200" cy="620640"/>
          </a:xfrm>
          <a:prstGeom prst="roundRect">
            <a:avLst>
              <a:gd name="adj" fmla="val 12000"/>
            </a:avLst>
          </a:prstGeom>
          <a:solidFill>
            <a:srgbClr val="271D47"/>
          </a:solidFill>
          <a:ln w="12700">
            <a:solidFill>
              <a:srgbClr val="3A2E6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67000" tIns="54720" rIns="109800" bIns="54720" anchor="ctr">
            <a:noAutofit/>
          </a:bodyPr>
          <a:p>
            <a:pPr>
              <a:lnSpc>
                <a:spcPct val="100000"/>
              </a:lnSpc>
            </a:pPr>
            <a:r>
              <a:rPr lang="ru-RU" sz="13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React 18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TypeScript · Vite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Rounded Rectangle 11"/>
          <p:cNvSpPr/>
          <p:nvPr/>
        </p:nvSpPr>
        <p:spPr>
          <a:xfrm>
            <a:off x="1956960" y="1892880"/>
            <a:ext cx="346320" cy="346320"/>
          </a:xfrm>
          <a:prstGeom prst="roundRect">
            <a:avLst>
              <a:gd name="adj" fmla="val 22000"/>
            </a:avLst>
          </a:prstGeom>
          <a:solidFill>
            <a:srgbClr val="3A2E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3160" tIns="137160" rIns="17316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9" name="Picture 12" descr="react.png"/>
          <p:cNvPicPr/>
          <p:nvPr/>
        </p:nvPicPr>
        <p:blipFill>
          <a:blip r:embed="rId3"/>
          <a:stretch/>
        </p:blipFill>
        <p:spPr>
          <a:xfrm>
            <a:off x="2011680" y="1947600"/>
            <a:ext cx="236520" cy="23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0" name="Rounded Rectangle 13"/>
          <p:cNvSpPr/>
          <p:nvPr/>
        </p:nvSpPr>
        <p:spPr>
          <a:xfrm>
            <a:off x="4187880" y="1755720"/>
            <a:ext cx="2230200" cy="620640"/>
          </a:xfrm>
          <a:prstGeom prst="roundRect">
            <a:avLst>
              <a:gd name="adj" fmla="val 12000"/>
            </a:avLst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67000" tIns="54720" rIns="109800" bIns="54720" anchor="ctr">
            <a:noAutofit/>
          </a:bodyPr>
          <a:p>
            <a:pPr>
              <a:lnSpc>
                <a:spcPct val="100000"/>
              </a:lnSpc>
            </a:pPr>
            <a:r>
              <a:rPr lang="ru-RU" sz="13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FastAPI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сценарии, очки, API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Rounded Rectangle 14"/>
          <p:cNvSpPr/>
          <p:nvPr/>
        </p:nvSpPr>
        <p:spPr>
          <a:xfrm>
            <a:off x="4316040" y="1892880"/>
            <a:ext cx="346320" cy="346320"/>
          </a:xfrm>
          <a:prstGeom prst="roundRect">
            <a:avLst>
              <a:gd name="adj" fmla="val 22000"/>
            </a:avLst>
          </a:prstGeom>
          <a:solidFill>
            <a:srgbClr val="2E58B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3160" tIns="137160" rIns="17316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2" name="Picture 15" descr="fastapi.png"/>
          <p:cNvPicPr/>
          <p:nvPr/>
        </p:nvPicPr>
        <p:blipFill>
          <a:blip r:embed="rId4"/>
          <a:stretch/>
        </p:blipFill>
        <p:spPr>
          <a:xfrm>
            <a:off x="4370760" y="1947600"/>
            <a:ext cx="236520" cy="23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3" name="Rounded Rectangle 16"/>
          <p:cNvSpPr/>
          <p:nvPr/>
        </p:nvSpPr>
        <p:spPr>
          <a:xfrm>
            <a:off x="6546960" y="1755720"/>
            <a:ext cx="2230200" cy="620640"/>
          </a:xfrm>
          <a:prstGeom prst="roundRect">
            <a:avLst>
              <a:gd name="adj" fmla="val 12000"/>
            </a:avLst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67000" tIns="54720" rIns="109800" bIns="54720" anchor="ctr">
            <a:noAutofit/>
          </a:bodyPr>
          <a:p>
            <a:pPr>
              <a:lnSpc>
                <a:spcPct val="100000"/>
              </a:lnSpc>
            </a:pPr>
            <a:r>
              <a:rPr lang="ru-RU" sz="13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GigaChat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оценка и генерация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Rounded Rectangle 17"/>
          <p:cNvSpPr/>
          <p:nvPr/>
        </p:nvSpPr>
        <p:spPr>
          <a:xfrm>
            <a:off x="6675120" y="1892880"/>
            <a:ext cx="346320" cy="346320"/>
          </a:xfrm>
          <a:prstGeom prst="roundRect">
            <a:avLst>
              <a:gd name="adj" fmla="val 22000"/>
            </a:avLst>
          </a:prstGeom>
          <a:solidFill>
            <a:srgbClr val="2E58B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3160" tIns="137160" rIns="17316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5" name="Picture 18" descr="gigachat.png"/>
          <p:cNvPicPr/>
          <p:nvPr/>
        </p:nvPicPr>
        <p:blipFill>
          <a:blip r:embed="rId5"/>
          <a:stretch/>
        </p:blipFill>
        <p:spPr>
          <a:xfrm>
            <a:off x="6729840" y="1947600"/>
            <a:ext cx="236520" cy="23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6" name="TextBox 19"/>
          <p:cNvSpPr/>
          <p:nvPr/>
        </p:nvSpPr>
        <p:spPr>
          <a:xfrm>
            <a:off x="384120" y="2505600"/>
            <a:ext cx="137052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ДАННЫЕ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Rounded Rectangle 20"/>
          <p:cNvSpPr/>
          <p:nvPr/>
        </p:nvSpPr>
        <p:spPr>
          <a:xfrm>
            <a:off x="1828800" y="2505600"/>
            <a:ext cx="3409560" cy="620640"/>
          </a:xfrm>
          <a:prstGeom prst="roundRect">
            <a:avLst>
              <a:gd name="adj" fmla="val 12000"/>
            </a:avLst>
          </a:prstGeom>
          <a:solidFill>
            <a:srgbClr val="271D47"/>
          </a:solidFill>
          <a:ln w="12700">
            <a:solidFill>
              <a:srgbClr val="3A2E6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67000" tIns="54720" rIns="109800" bIns="54720" anchor="ctr">
            <a:noAutofit/>
          </a:bodyPr>
          <a:p>
            <a:pPr>
              <a:lnSpc>
                <a:spcPct val="100000"/>
              </a:lnSpc>
            </a:pPr>
            <a:r>
              <a:rPr lang="ru-RU" sz="13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PostgreSQL 17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сотрудники, сценарии, прогресс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Rounded Rectangle 21"/>
          <p:cNvSpPr/>
          <p:nvPr/>
        </p:nvSpPr>
        <p:spPr>
          <a:xfrm>
            <a:off x="1956960" y="2642760"/>
            <a:ext cx="346320" cy="346320"/>
          </a:xfrm>
          <a:prstGeom prst="roundRect">
            <a:avLst>
              <a:gd name="adj" fmla="val 22000"/>
            </a:avLst>
          </a:prstGeom>
          <a:solidFill>
            <a:srgbClr val="3A2E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3160" tIns="137160" rIns="17316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9" name="Picture 22" descr="postgresql.png"/>
          <p:cNvPicPr/>
          <p:nvPr/>
        </p:nvPicPr>
        <p:blipFill>
          <a:blip r:embed="rId6"/>
          <a:stretch/>
        </p:blipFill>
        <p:spPr>
          <a:xfrm>
            <a:off x="2011680" y="2697480"/>
            <a:ext cx="236520" cy="23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" name="Rounded Rectangle 23"/>
          <p:cNvSpPr/>
          <p:nvPr/>
        </p:nvSpPr>
        <p:spPr>
          <a:xfrm>
            <a:off x="5367600" y="2505600"/>
            <a:ext cx="3409560" cy="620640"/>
          </a:xfrm>
          <a:prstGeom prst="roundRect">
            <a:avLst>
              <a:gd name="adj" fmla="val 12000"/>
            </a:avLst>
          </a:prstGeom>
          <a:solidFill>
            <a:srgbClr val="271D47"/>
          </a:solidFill>
          <a:ln w="12700">
            <a:solidFill>
              <a:srgbClr val="3A2E6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67000" tIns="54720" rIns="109800" bIns="54720" anchor="ctr">
            <a:noAutofit/>
          </a:bodyPr>
          <a:p>
            <a:pPr>
              <a:lnSpc>
                <a:spcPct val="100000"/>
              </a:lnSpc>
            </a:pPr>
            <a:r>
              <a:rPr lang="ru-RU" sz="13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Valkey 8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турнир онлайн, специвенты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Rounded Rectangle 24"/>
          <p:cNvSpPr/>
          <p:nvPr/>
        </p:nvSpPr>
        <p:spPr>
          <a:xfrm>
            <a:off x="5495400" y="2642760"/>
            <a:ext cx="346320" cy="346320"/>
          </a:xfrm>
          <a:prstGeom prst="roundRect">
            <a:avLst>
              <a:gd name="adj" fmla="val 22000"/>
            </a:avLst>
          </a:prstGeom>
          <a:solidFill>
            <a:srgbClr val="3A2E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3160" tIns="137160" rIns="17316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2" name="Picture 25" descr="valkey.png"/>
          <p:cNvPicPr/>
          <p:nvPr/>
        </p:nvPicPr>
        <p:blipFill>
          <a:blip r:embed="rId7"/>
          <a:stretch/>
        </p:blipFill>
        <p:spPr>
          <a:xfrm>
            <a:off x="5550480" y="2697480"/>
            <a:ext cx="236520" cy="23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3" name="TextBox 26"/>
          <p:cNvSpPr/>
          <p:nvPr/>
        </p:nvSpPr>
        <p:spPr>
          <a:xfrm>
            <a:off x="384120" y="3255120"/>
            <a:ext cx="137052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НАБЛЮДАЕМОСТЬ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Rounded Rectangle 27"/>
          <p:cNvSpPr/>
          <p:nvPr/>
        </p:nvSpPr>
        <p:spPr>
          <a:xfrm>
            <a:off x="1828800" y="3255120"/>
            <a:ext cx="1640160" cy="620640"/>
          </a:xfrm>
          <a:prstGeom prst="roundRect">
            <a:avLst>
              <a:gd name="adj" fmla="val 12000"/>
            </a:avLst>
          </a:prstGeom>
          <a:solidFill>
            <a:srgbClr val="271D47"/>
          </a:solidFill>
          <a:ln w="12700">
            <a:solidFill>
              <a:srgbClr val="3A2E6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67000" tIns="54720" rIns="109800" bIns="54720" anchor="ctr">
            <a:noAutofit/>
          </a:bodyPr>
          <a:p>
            <a:pPr>
              <a:lnSpc>
                <a:spcPct val="100000"/>
              </a:lnSpc>
            </a:pPr>
            <a:r>
              <a:rPr lang="ru-RU" sz="13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Prometheus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метрики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Rounded Rectangle 28"/>
          <p:cNvSpPr/>
          <p:nvPr/>
        </p:nvSpPr>
        <p:spPr>
          <a:xfrm>
            <a:off x="1956960" y="3392280"/>
            <a:ext cx="346320" cy="346320"/>
          </a:xfrm>
          <a:prstGeom prst="roundRect">
            <a:avLst>
              <a:gd name="adj" fmla="val 22000"/>
            </a:avLst>
          </a:prstGeom>
          <a:solidFill>
            <a:srgbClr val="3A2E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3160" tIns="137160" rIns="17316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6" name="Picture 29" descr="prometheus.png"/>
          <p:cNvPicPr/>
          <p:nvPr/>
        </p:nvPicPr>
        <p:blipFill>
          <a:blip r:embed="rId8"/>
          <a:stretch/>
        </p:blipFill>
        <p:spPr>
          <a:xfrm>
            <a:off x="2011680" y="3447360"/>
            <a:ext cx="236520" cy="23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7" name="Rounded Rectangle 30"/>
          <p:cNvSpPr/>
          <p:nvPr/>
        </p:nvSpPr>
        <p:spPr>
          <a:xfrm>
            <a:off x="3598200" y="3255120"/>
            <a:ext cx="1640160" cy="620640"/>
          </a:xfrm>
          <a:prstGeom prst="roundRect">
            <a:avLst>
              <a:gd name="adj" fmla="val 12000"/>
            </a:avLst>
          </a:prstGeom>
          <a:solidFill>
            <a:srgbClr val="271D47"/>
          </a:solidFill>
          <a:ln w="12700">
            <a:solidFill>
              <a:srgbClr val="3A2E6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67000" tIns="54720" rIns="109800" bIns="54720" anchor="ctr">
            <a:noAutofit/>
          </a:bodyPr>
          <a:p>
            <a:pPr>
              <a:lnSpc>
                <a:spcPct val="100000"/>
              </a:lnSpc>
            </a:pPr>
            <a:r>
              <a:rPr lang="ru-RU" sz="13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Loki · Alloy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логи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Rounded Rectangle 31"/>
          <p:cNvSpPr/>
          <p:nvPr/>
        </p:nvSpPr>
        <p:spPr>
          <a:xfrm>
            <a:off x="3726360" y="3392280"/>
            <a:ext cx="346320" cy="346320"/>
          </a:xfrm>
          <a:prstGeom prst="roundRect">
            <a:avLst>
              <a:gd name="adj" fmla="val 22000"/>
            </a:avLst>
          </a:prstGeom>
          <a:solidFill>
            <a:srgbClr val="3A2E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3160" tIns="137160" rIns="17316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9" name="Picture 32" descr="loki.png"/>
          <p:cNvPicPr/>
          <p:nvPr/>
        </p:nvPicPr>
        <p:blipFill>
          <a:blip r:embed="rId9"/>
          <a:stretch/>
        </p:blipFill>
        <p:spPr>
          <a:xfrm>
            <a:off x="3781080" y="3447360"/>
            <a:ext cx="236520" cy="23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" name="Rounded Rectangle 33"/>
          <p:cNvSpPr/>
          <p:nvPr/>
        </p:nvSpPr>
        <p:spPr>
          <a:xfrm>
            <a:off x="5367600" y="3255120"/>
            <a:ext cx="1640160" cy="620640"/>
          </a:xfrm>
          <a:prstGeom prst="roundRect">
            <a:avLst>
              <a:gd name="adj" fmla="val 12000"/>
            </a:avLst>
          </a:prstGeom>
          <a:solidFill>
            <a:srgbClr val="271D47"/>
          </a:solidFill>
          <a:ln w="12700">
            <a:solidFill>
              <a:srgbClr val="3A2E6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67000" tIns="54720" rIns="109800" bIns="54720" anchor="ctr">
            <a:noAutofit/>
          </a:bodyPr>
          <a:p>
            <a:pPr>
              <a:lnSpc>
                <a:spcPct val="100000"/>
              </a:lnSpc>
            </a:pPr>
            <a:r>
              <a:rPr lang="ru-RU" sz="13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Grafana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дашборды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Rounded Rectangle 34"/>
          <p:cNvSpPr/>
          <p:nvPr/>
        </p:nvSpPr>
        <p:spPr>
          <a:xfrm>
            <a:off x="5495400" y="3392280"/>
            <a:ext cx="346320" cy="346320"/>
          </a:xfrm>
          <a:prstGeom prst="roundRect">
            <a:avLst>
              <a:gd name="adj" fmla="val 22000"/>
            </a:avLst>
          </a:prstGeom>
          <a:solidFill>
            <a:srgbClr val="3A2E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3160" tIns="137160" rIns="17316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2" name="Picture 35" descr="grafana.png"/>
          <p:cNvPicPr/>
          <p:nvPr/>
        </p:nvPicPr>
        <p:blipFill>
          <a:blip r:embed="rId10"/>
          <a:stretch/>
        </p:blipFill>
        <p:spPr>
          <a:xfrm>
            <a:off x="5550480" y="3447360"/>
            <a:ext cx="236520" cy="23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3" name="Rounded Rectangle 36"/>
          <p:cNvSpPr/>
          <p:nvPr/>
        </p:nvSpPr>
        <p:spPr>
          <a:xfrm>
            <a:off x="7137000" y="3255120"/>
            <a:ext cx="1640160" cy="620640"/>
          </a:xfrm>
          <a:prstGeom prst="roundRect">
            <a:avLst>
              <a:gd name="adj" fmla="val 12000"/>
            </a:avLst>
          </a:prstGeom>
          <a:solidFill>
            <a:srgbClr val="271D47"/>
          </a:solidFill>
          <a:ln w="12700">
            <a:solidFill>
              <a:srgbClr val="3A2E6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67000" tIns="54720" rIns="109800" bIns="54720" anchor="ctr">
            <a:noAutofit/>
          </a:bodyPr>
          <a:p>
            <a:pPr>
              <a:lnSpc>
                <a:spcPct val="100000"/>
              </a:lnSpc>
            </a:pPr>
            <a:r>
              <a:rPr lang="ru-RU" sz="13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pgAdmin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доступ к БД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7264800" y="3392280"/>
            <a:ext cx="346320" cy="346320"/>
          </a:xfrm>
          <a:prstGeom prst="roundRect">
            <a:avLst>
              <a:gd name="adj" fmla="val 22000"/>
            </a:avLst>
          </a:prstGeom>
          <a:solidFill>
            <a:srgbClr val="3A2E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3160" tIns="137160" rIns="17316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5" name="Picture 38" descr="pgadmin.png"/>
          <p:cNvPicPr/>
          <p:nvPr/>
        </p:nvPicPr>
        <p:blipFill>
          <a:blip r:embed="rId11"/>
          <a:stretch/>
        </p:blipFill>
        <p:spPr>
          <a:xfrm>
            <a:off x="7319880" y="3447360"/>
            <a:ext cx="236520" cy="23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" name="TextBox 39"/>
          <p:cNvSpPr/>
          <p:nvPr/>
        </p:nvSpPr>
        <p:spPr>
          <a:xfrm>
            <a:off x="384120" y="4069080"/>
            <a:ext cx="63997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Swagger / OpenAPI  ·  JSON и Excel для HR/LMS  ·  Docker Compose  ·  CI/CD → VPS</a:t>
            </a:r>
            <a:endParaRPr lang="ru-R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Rectangle 1"/>
          <p:cNvSpPr/>
          <p:nvPr/>
        </p:nvSpPr>
        <p:spPr>
          <a:xfrm>
            <a:off x="8357760" y="320040"/>
            <a:ext cx="428760" cy="428760"/>
          </a:xfrm>
          <a:prstGeom prst="rect">
            <a:avLst/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Rounded Rectangle 2"/>
          <p:cNvSpPr/>
          <p:nvPr/>
        </p:nvSpPr>
        <p:spPr>
          <a:xfrm>
            <a:off x="384120" y="502920"/>
            <a:ext cx="1841400" cy="291600"/>
          </a:xfrm>
          <a:prstGeom prst="roundRect">
            <a:avLst>
              <a:gd name="adj" fmla="val 50000"/>
            </a:avLst>
          </a:prstGeom>
          <a:noFill/>
          <a:ln>
            <a:solidFill>
              <a:srgbClr val="9FC5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9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СЛЕДУЮЩИЕ СТАНЦИИ</a:t>
            </a:r>
            <a:endParaRPr lang="ru-R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Box 3"/>
          <p:cNvSpPr/>
          <p:nvPr/>
        </p:nvSpPr>
        <p:spPr>
          <a:xfrm>
            <a:off x="384120" y="1005840"/>
            <a:ext cx="548532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34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После хакатона</a:t>
            </a:r>
            <a:endParaRPr lang="ru-RU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Rectangle 4"/>
          <p:cNvSpPr/>
          <p:nvPr/>
        </p:nvSpPr>
        <p:spPr>
          <a:xfrm>
            <a:off x="1333080" y="2014200"/>
            <a:ext cx="6516360" cy="44640"/>
          </a:xfrm>
          <a:prstGeom prst="rect">
            <a:avLst/>
          </a:prstGeom>
          <a:solidFill>
            <a:srgbClr val="9FC5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22320" rIns="182880" bIns="2232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Oval 5"/>
          <p:cNvSpPr/>
          <p:nvPr/>
        </p:nvSpPr>
        <p:spPr>
          <a:xfrm>
            <a:off x="1260000" y="1904400"/>
            <a:ext cx="254880" cy="2548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3F6FD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440" tIns="90360" rIns="127440" bIns="9036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Rounded Rectangle 6"/>
          <p:cNvSpPr/>
          <p:nvPr/>
        </p:nvSpPr>
        <p:spPr>
          <a:xfrm>
            <a:off x="384120" y="2240280"/>
            <a:ext cx="1992240" cy="2147760"/>
          </a:xfrm>
          <a:prstGeom prst="roundRect">
            <a:avLst>
              <a:gd name="adj" fmla="val 8000"/>
            </a:avLst>
          </a:prstGeom>
          <a:solidFill>
            <a:srgbClr val="271D4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46160" tIns="128160" rIns="128160" bIns="91440" anchor="t">
            <a:noAutofit/>
          </a:bodyPr>
          <a:p>
            <a:pPr>
              <a:lnSpc>
                <a:spcPct val="100000"/>
              </a:lnSpc>
            </a:pPr>
            <a:r>
              <a:rPr lang="ru-RU" sz="15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Контент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601"/>
              </a:spcBef>
              <a:buClr>
                <a:srgbClr val="9FC5E8"/>
              </a:buClr>
              <a:buSzPct val="70000"/>
              <a:buFont typeface="Arial"/>
              <a:buChar char="■"/>
            </a:pPr>
            <a:r>
              <a:rPr lang="ru-RU" sz="105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Валидация сценариев с экспертами ВСМ</a:t>
            </a:r>
            <a:endParaRPr lang="ru-R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601"/>
              </a:spcBef>
              <a:buClr>
                <a:srgbClr val="9FC5E8"/>
              </a:buClr>
              <a:buSzPct val="70000"/>
              <a:buFont typeface="Arial"/>
              <a:buChar char="■"/>
            </a:pPr>
            <a:r>
              <a:rPr lang="ru-RU" sz="105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Медиа из задания: фото, видео, аудио</a:t>
            </a:r>
            <a:endParaRPr lang="ru-R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601"/>
              </a:spcBef>
              <a:buClr>
                <a:srgbClr val="9FC5E8"/>
              </a:buClr>
              <a:buSzPct val="70000"/>
              <a:buFont typeface="Arial"/>
              <a:buChar char="■"/>
            </a:pPr>
            <a:r>
              <a:rPr lang="ru-RU" sz="105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Больше должностей и компетенций</a:t>
            </a:r>
            <a:endParaRPr lang="ru-R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Oval 7"/>
          <p:cNvSpPr/>
          <p:nvPr/>
        </p:nvSpPr>
        <p:spPr>
          <a:xfrm>
            <a:off x="3381480" y="1904400"/>
            <a:ext cx="254880" cy="2548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3F6FD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440" tIns="90360" rIns="127440" bIns="9036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Rounded Rectangle 8"/>
          <p:cNvSpPr/>
          <p:nvPr/>
        </p:nvSpPr>
        <p:spPr>
          <a:xfrm>
            <a:off x="2505600" y="2240280"/>
            <a:ext cx="1992240" cy="2147760"/>
          </a:xfrm>
          <a:prstGeom prst="roundRect">
            <a:avLst>
              <a:gd name="adj" fmla="val 8000"/>
            </a:avLst>
          </a:prstGeom>
          <a:solidFill>
            <a:srgbClr val="271D4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46160" tIns="128160" rIns="128160" bIns="91440" anchor="t">
            <a:noAutofit/>
          </a:bodyPr>
          <a:p>
            <a:pPr>
              <a:lnSpc>
                <a:spcPct val="100000"/>
              </a:lnSpc>
            </a:pPr>
            <a:r>
              <a:rPr lang="ru-RU" sz="15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ИИ и оценка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601"/>
              </a:spcBef>
              <a:buClr>
                <a:srgbClr val="9FC5E8"/>
              </a:buClr>
              <a:buSzPct val="70000"/>
              <a:buFont typeface="Arial"/>
              <a:buChar char="■"/>
            </a:pPr>
            <a:r>
              <a:rPr lang="ru-RU" sz="105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Калибровка рубрик на экспертной разметке</a:t>
            </a:r>
            <a:endParaRPr lang="ru-R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601"/>
              </a:spcBef>
              <a:buClr>
                <a:srgbClr val="9FC5E8"/>
              </a:buClr>
              <a:buSzPct val="70000"/>
              <a:buFont typeface="Arial"/>
              <a:buChar char="■"/>
            </a:pPr>
            <a:r>
              <a:rPr lang="ru-RU" sz="105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Голосовой ответ с транскрибацией</a:t>
            </a:r>
            <a:endParaRPr lang="ru-R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601"/>
              </a:spcBef>
              <a:buClr>
                <a:srgbClr val="9FC5E8"/>
              </a:buClr>
              <a:buSzPct val="70000"/>
              <a:buFont typeface="Arial"/>
              <a:buChar char="■"/>
            </a:pPr>
            <a:r>
              <a:rPr lang="ru-RU" sz="105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Переключение LLM-провайдеров</a:t>
            </a:r>
            <a:endParaRPr lang="ru-R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Oval 9"/>
          <p:cNvSpPr/>
          <p:nvPr/>
        </p:nvSpPr>
        <p:spPr>
          <a:xfrm>
            <a:off x="5502600" y="1904400"/>
            <a:ext cx="254880" cy="2548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3F6FD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440" tIns="90360" rIns="127440" bIns="9036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Rounded Rectangle 10"/>
          <p:cNvSpPr/>
          <p:nvPr/>
        </p:nvSpPr>
        <p:spPr>
          <a:xfrm>
            <a:off x="4626720" y="2240280"/>
            <a:ext cx="1992240" cy="2147760"/>
          </a:xfrm>
          <a:prstGeom prst="roundRect">
            <a:avLst>
              <a:gd name="adj" fmla="val 8000"/>
            </a:avLst>
          </a:prstGeom>
          <a:solidFill>
            <a:srgbClr val="271D4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46160" tIns="128160" rIns="128160" bIns="91440" anchor="t">
            <a:noAutofit/>
          </a:bodyPr>
          <a:p>
            <a:pPr>
              <a:lnSpc>
                <a:spcPct val="100000"/>
              </a:lnSpc>
            </a:pPr>
            <a:r>
              <a:rPr lang="ru-RU" sz="15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Продукт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601"/>
              </a:spcBef>
              <a:buClr>
                <a:srgbClr val="9FC5E8"/>
              </a:buClr>
              <a:buSzPct val="70000"/>
              <a:buFont typeface="Arial"/>
              <a:buChar char="■"/>
            </a:pPr>
            <a:r>
              <a:rPr lang="ru-RU" sz="105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Командные турниры бригад и депо</a:t>
            </a:r>
            <a:endParaRPr lang="ru-R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601"/>
              </a:spcBef>
              <a:buClr>
                <a:srgbClr val="9FC5E8"/>
              </a:buClr>
              <a:buSzPct val="70000"/>
              <a:buFont typeface="Arial"/>
              <a:buChar char="■"/>
            </a:pPr>
            <a:r>
              <a:rPr lang="ru-RU" sz="105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Лиги и сезоны</a:t>
            </a:r>
            <a:endParaRPr lang="ru-R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601"/>
              </a:spcBef>
              <a:buClr>
                <a:srgbClr val="9FC5E8"/>
              </a:buClr>
              <a:buSzPct val="70000"/>
              <a:buFont typeface="Arial"/>
              <a:buChar char="■"/>
            </a:pPr>
            <a:r>
              <a:rPr lang="ru-RU" sz="105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PWA поверх web view</a:t>
            </a:r>
            <a:endParaRPr lang="ru-R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Oval 11"/>
          <p:cNvSpPr/>
          <p:nvPr/>
        </p:nvSpPr>
        <p:spPr>
          <a:xfrm>
            <a:off x="7624080" y="1904400"/>
            <a:ext cx="254880" cy="2548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3F6FD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440" tIns="90360" rIns="127440" bIns="9036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Rounded Rectangle 12"/>
          <p:cNvSpPr/>
          <p:nvPr/>
        </p:nvSpPr>
        <p:spPr>
          <a:xfrm>
            <a:off x="6748200" y="2240280"/>
            <a:ext cx="1992240" cy="2147760"/>
          </a:xfrm>
          <a:prstGeom prst="roundRect">
            <a:avLst>
              <a:gd name="adj" fmla="val 8000"/>
            </a:avLst>
          </a:prstGeom>
          <a:solidFill>
            <a:srgbClr val="271D4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46160" tIns="128160" rIns="128160" bIns="91440" anchor="t">
            <a:noAutofit/>
          </a:bodyPr>
          <a:p>
            <a:pPr>
              <a:lnSpc>
                <a:spcPct val="100000"/>
              </a:lnSpc>
            </a:pPr>
            <a:r>
              <a:rPr lang="ru-RU" sz="15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Интеграции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601"/>
              </a:spcBef>
              <a:buClr>
                <a:srgbClr val="9FC5E8"/>
              </a:buClr>
              <a:buSzPct val="70000"/>
              <a:buFont typeface="Arial"/>
              <a:buChar char="■"/>
            </a:pPr>
            <a:r>
              <a:rPr lang="ru-RU" sz="105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SSO с системами ВСМ</a:t>
            </a:r>
            <a:endParaRPr lang="ru-R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601"/>
              </a:spcBef>
              <a:buClr>
                <a:srgbClr val="9FC5E8"/>
              </a:buClr>
              <a:buSzPct val="70000"/>
              <a:buFont typeface="Arial"/>
              <a:buChar char="■"/>
            </a:pPr>
            <a:r>
              <a:rPr lang="ru-RU" sz="105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Глубже с LMS и HR</a:t>
            </a:r>
            <a:endParaRPr lang="ru-R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601"/>
              </a:spcBef>
              <a:buClr>
                <a:srgbClr val="9FC5E8"/>
              </a:buClr>
              <a:buSzPct val="70000"/>
              <a:buFont typeface="Arial"/>
              <a:buChar char="■"/>
            </a:pPr>
            <a:r>
              <a:rPr lang="ru-RU" sz="105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Импорт сотрудников и учебных групп</a:t>
            </a:r>
            <a:endParaRPr lang="ru-R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Rectangle 1"/>
          <p:cNvSpPr/>
          <p:nvPr/>
        </p:nvSpPr>
        <p:spPr>
          <a:xfrm>
            <a:off x="8357760" y="320040"/>
            <a:ext cx="428760" cy="428760"/>
          </a:xfrm>
          <a:prstGeom prst="rect">
            <a:avLst/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Rectangle 2"/>
          <p:cNvSpPr/>
          <p:nvPr/>
        </p:nvSpPr>
        <p:spPr>
          <a:xfrm>
            <a:off x="7927920" y="749880"/>
            <a:ext cx="428760" cy="428760"/>
          </a:xfrm>
          <a:prstGeom prst="rect">
            <a:avLst/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Box 3"/>
          <p:cNvSpPr/>
          <p:nvPr/>
        </p:nvSpPr>
        <p:spPr>
          <a:xfrm>
            <a:off x="384120" y="411480"/>
            <a:ext cx="731412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36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Магистраль 400</a:t>
            </a:r>
            <a:endParaRPr lang="ru-RU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ru-RU" sz="14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Тренажёр нештатных ситуаций для проводников ВСМ</a:t>
            </a:r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Rounded Rectangle 4"/>
          <p:cNvSpPr/>
          <p:nvPr/>
        </p:nvSpPr>
        <p:spPr>
          <a:xfrm>
            <a:off x="384120" y="1783080"/>
            <a:ext cx="8393040" cy="2513520"/>
          </a:xfrm>
          <a:prstGeom prst="roundRect">
            <a:avLst>
              <a:gd name="adj" fmla="val 8000"/>
            </a:avLst>
          </a:prstGeom>
          <a:solidFill>
            <a:srgbClr val="271D47"/>
          </a:solidFill>
          <a:ln w="12700">
            <a:solidFill>
              <a:srgbClr val="3A2E6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Rounded Rectangle 5"/>
          <p:cNvSpPr/>
          <p:nvPr/>
        </p:nvSpPr>
        <p:spPr>
          <a:xfrm>
            <a:off x="567000" y="1938600"/>
            <a:ext cx="2193480" cy="2193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4" name="Picture 6" descr="qr.png"/>
          <p:cNvPicPr/>
          <p:nvPr/>
        </p:nvPicPr>
        <p:blipFill>
          <a:blip r:embed="rId1"/>
          <a:stretch/>
        </p:blipFill>
        <p:spPr>
          <a:xfrm>
            <a:off x="658440" y="2030040"/>
            <a:ext cx="2010600" cy="2010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5" name="TextBox 7"/>
          <p:cNvSpPr/>
          <p:nvPr/>
        </p:nvSpPr>
        <p:spPr>
          <a:xfrm>
            <a:off x="3063240" y="2011680"/>
            <a:ext cx="548532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ПОПРОБУЙТЕ ПРЯМО СЕЙЧАС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ru-RU" sz="3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vsm-gamification</a:t>
            </a:r>
            <a:r>
              <a:rPr lang="ru-RU" sz="32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.ru</a:t>
            </a:r>
            <a:endParaRPr lang="ru-RU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Rounded Rectangle 8"/>
          <p:cNvSpPr/>
          <p:nvPr/>
        </p:nvSpPr>
        <p:spPr>
          <a:xfrm>
            <a:off x="3063240" y="3200400"/>
            <a:ext cx="3656520" cy="364680"/>
          </a:xfrm>
          <a:prstGeom prst="roundRect">
            <a:avLst>
              <a:gd name="adj" fmla="val 50000"/>
            </a:avLst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0" rIns="137160" bIns="0" anchor="ctr">
            <a:noAutofit/>
          </a:bodyPr>
          <a:p>
            <a:pPr>
              <a:lnSpc>
                <a:spcPct val="100000"/>
              </a:lnSpc>
            </a:pPr>
            <a:r>
              <a:rPr lang="ru-RU" sz="115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Проводник   </a:t>
            </a:r>
            <a:r>
              <a:rPr lang="ru-RU" sz="115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demo@m400.ru / demo123</a:t>
            </a:r>
            <a:endParaRPr lang="ru-RU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Rounded Rectangle 9"/>
          <p:cNvSpPr/>
          <p:nvPr/>
        </p:nvSpPr>
        <p:spPr>
          <a:xfrm>
            <a:off x="3063240" y="3657600"/>
            <a:ext cx="3656520" cy="364680"/>
          </a:xfrm>
          <a:prstGeom prst="roundRect">
            <a:avLst>
              <a:gd name="adj" fmla="val 50000"/>
            </a:avLst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0" rIns="137160" bIns="0" anchor="ctr">
            <a:noAutofit/>
          </a:bodyPr>
          <a:p>
            <a:pPr>
              <a:lnSpc>
                <a:spcPct val="100000"/>
              </a:lnSpc>
            </a:pPr>
            <a:r>
              <a:rPr lang="ru-RU" sz="115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Руководитель   </a:t>
            </a:r>
            <a:r>
              <a:rPr lang="ru-RU" sz="115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lead@m400.ru / lead123</a:t>
            </a:r>
            <a:endParaRPr lang="ru-RU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Box 10"/>
          <p:cNvSpPr/>
          <p:nvPr/>
        </p:nvSpPr>
        <p:spPr>
          <a:xfrm>
            <a:off x="384120" y="4526280"/>
            <a:ext cx="59425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Команда «Кокаманы» · Хакатон Московского транспорта</a:t>
            </a:r>
            <a:endParaRPr lang="ru-R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</TotalTime>
  <Application>LibreOffice/26.2.6.3$Windows_X86_64 LibreOffice_project/8221e31b3ac356a1623c672912a3d2b492f7e3d1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ru-RU</dc:language>
  <cp:lastModifiedBy/>
  <cp:lastPrinted>2026-10-01T21:29:02Z</cp:lastPrinted>
  <dcterms:modified xsi:type="dcterms:W3CDTF">2026-10-02T14:55:33Z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