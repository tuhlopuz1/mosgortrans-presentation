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14"/>
    <p:sldId id="258" r:id="rId13"/>
    <p:sldId id="259" r:id="rId12"/>
    <p:sldId id="260" r:id="rId11"/>
    <p:sldId id="261" r:id="rId10"/>
    <p:sldId id="262" r:id="rId9"/>
    <p:sldId id="263" r:id="rId8"/>
    <p:sldId id="264" r:id="rId7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</p:sldIdLst>
  <p:sldSz cy="5143500" cx="9144000"/>
  <p:notesSz cx="6858000" cy="9144000"/>
  <p:embeddedFontLst>
    <p:embeddedFont>
      <p:font typeface="Google Sans Medium"/>
      <p:regular r:id="rId15"/>
      <p:bold r:id="rId16"/>
      <p:italic r:id="rId17"/>
      <p:boldItalic r:id="rId18"/>
    </p:embeddedFont>
    <p:embeddedFont>
      <p:font typeface="Google Sans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slide" Target="slides/slide7.xml"/><Relationship Id="rId10" Type="http://schemas.openxmlformats.org/officeDocument/2006/relationships/slide" Target="slides/slide6.xml"/><Relationship Id="rId11" Type="http://schemas.openxmlformats.org/officeDocument/2006/relationships/slide" Target="slides/slide5.xml"/><Relationship Id="rId12" Type="http://schemas.openxmlformats.org/officeDocument/2006/relationships/slide" Target="slides/slide4.xml"/><Relationship Id="rId13" Type="http://schemas.openxmlformats.org/officeDocument/2006/relationships/slide" Target="slides/slide3.xml"/><Relationship Id="rId14" Type="http://schemas.openxmlformats.org/officeDocument/2006/relationships/slide" Target="slides/slide2.xml"/><Relationship Id="rId15" Type="http://schemas.openxmlformats.org/officeDocument/2006/relationships/font" Target="fonts/GoogleSansMedium-regular.fntdata"/><Relationship Id="rId16" Type="http://schemas.openxmlformats.org/officeDocument/2006/relationships/font" Target="fonts/GoogleSansMedium-bold.fntdata"/><Relationship Id="rId17" Type="http://schemas.openxmlformats.org/officeDocument/2006/relationships/font" Target="fonts/GoogleSansMedium-italic.fntdata"/><Relationship Id="rId18" Type="http://schemas.openxmlformats.org/officeDocument/2006/relationships/font" Target="fonts/GoogleSansMedium-boldItalic.fntdata"/><Relationship Id="rId19" Type="http://schemas.openxmlformats.org/officeDocument/2006/relationships/font" Target="fonts/GoogleSans-regular.fntdata"/><Relationship Id="rId20" Type="http://schemas.openxmlformats.org/officeDocument/2006/relationships/font" Target="fonts/GoogleSans-bold.fntdata"/><Relationship Id="rId21" Type="http://schemas.openxmlformats.org/officeDocument/2006/relationships/font" Target="fonts/GoogleSans-italic.fntdata"/><Relationship Id="rId22" Type="http://schemas.openxmlformats.org/officeDocument/2006/relationships/font" Target="fonts/GoogleSans-boldItalic.fntdata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3fb4e222cb9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" name="Google Shape;19;g3fb4e222cb9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(0:25–0:40) Мы команда «Кокаманы», и это «Магистраль 400», тренажёр нештатных ситуаций для проводников ВСМ. Уровни проводника здесь — станции на линии Москва — Петербург.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(0:00–0:25) Пятница, поезд идёт 300 километров в час. Проводнику приходит голосовое от коллеги: «У меня в третьем вагоне плачет девочка лет пяти, маму потеряла, взрослых рядом нет». На решение 15 секунд. Если замешкаться, девочка уйдёт в тамбур одна.</a:t>
            </a:r>
          </a:p>
          <a:p/>
          <a:p>
            <a:r>
              <a:t>Такие ситуации не отрепетируешь на живых пассажирах. А решать их придётся.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(0:40–1:00) Кейс ставит четыре проблемы:</a:t>
            </a:r>
          </a:p>
          <a:p>
            <a:r>
              <a:t>- лекции и тесты не учат решать под давлением;</a:t>
            </a:r>
          </a:p>
          <a:p>
            <a:r>
              <a:t>- нет безопасной среды для отработки;</a:t>
            </a:r>
          </a:p>
          <a:p>
            <a:r>
              <a:t>- soft skills трудно измерить;</a:t>
            </a:r>
          </a:p>
          <a:p>
            <a:r>
              <a:t>- к постоянному обучению нет мотивации.</a:t>
            </a:r>
          </a:p>
          <a:p/>
          <a:p>
            <a:r>
              <a:t>Мы закрываем каждую.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(1:00–1:35) Контент мы не выдумывали. Все 51 ситуацию из справочника «Примеры ситуаций взаимодействия поездного персонала с пассажирами» и стандарты СТО РЖД для ВСМ мы собрали в 14 сюжетных рейсов.</a:t>
            </a:r>
          </a:p>
          <a:p/>
          <a:p>
            <a:r>
              <a:t>Вот рейс «Двое на одном месте». Пассажир занял чужое место, на решение 20 секунд. Если ответить грубо, «освободите немедленно», лояльность падает с 60 до 45, и пассажир грозит жалобой.</a:t>
            </a:r>
          </a:p>
          <a:p/>
          <a:p>
            <a:r>
              <a:t>Диалог нелинейный: каждое решение ведёт в свою ветку. Таймер не декорация. Если время вышло, срабатывает отдельная ветка с последствиями.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(1:35–2:05) Лояльность пассажира и безопасность считаются отдельно, и одно решение влияет на них по-разному. Если безопасность падает до нуля, рейс сразу заканчивается провалом: «Критический инцидент».</a:t>
            </a:r>
          </a:p>
          <a:p/>
          <a:p>
            <a:r>
              <a:t>После рейса проводник видит разбор каждого решения: что пошло не так, как было правильно и кого звать — начальника поезда, транспортную безопасность или электромеханика. Не просто «верно / неверно».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(2:05–2:30) Руководитель может посреди смены отправить экстренный вызов всем или выбранным сотрудникам. Проводник слушает голосовое и учится воспринимать информацию на слух. Хард-уровень: голосовое на английском от иностранной пассажирки.</a:t>
            </a:r>
          </a:p>
          <a:p/>
          <a:p>
            <a:r>
              <a:t>Свободный ответ оценивает ИИ-наставник по рубрике из регламента.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(2:30–2:45) Раз в неделю проходит турнир: 10 вопросов по 15 секунд, все отвечают одновременно. Топ-10 получают трофей и 100 очков компетенций.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(2:45–3:05) Цикл замкнут: действие → очки → ачивки → рейтинг → мотивация.</a:t>
            </a:r>
          </a:p>
          <a:p>
            <a:r>
              <a:t>- 8 уровней от «Стажёра» до «Легенды магистрали» и 14 ачивок.</a:t>
            </a:r>
          </a:p>
          <a:p>
            <a:r>
              <a:t>- Рейтинг по компании, депо и бригаде.</a:t>
            </a:r>
          </a:p>
          <a:p>
            <a:r>
              <a:t>- Уведомления, в том числе «недельный рейтинг скоро обнулится».</a:t>
            </a:r>
          </a:p>
          <a:p>
            <a:r>
              <a:t>- Следующий рейс система подбирает по слабым местам.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(3:05–3:25) Руководитель сразу видит, кому нужна помощь: у кого за месяц просела безопасность, кто давно не тренировался. Есть карточки сотрудников с готовностью к повышению и отчёты для HR в Excel и JSON.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(3:25–3:40) Вопрос можно задать обычными словами, например: «Покажи всех, у кого упал рейтинг безопасности». Ответ строится по живым данным.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(3:40–4:00) Инструктор описывает ситуацию своими словами, и ИИ собирает черновик ветвящегося сценария: реплики, таймеры, влияние на шкалы. Система проверяет граф, инструктор правит его в редакторе и публикует. Код трогать не нужно.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(4:00–4:30) Под капотом:</a:t>
            </a:r>
          </a:p>
          <a:p>
            <a:r>
              <a:t>- фронтенд на React;</a:t>
            </a:r>
          </a:p>
          <a:p>
            <a:r>
              <a:t>- бэкенд на FastAPI;</a:t>
            </a:r>
          </a:p>
          <a:p>
            <a:r>
              <a:t>- отдельный ML-сервис на GigaChat, а без ключей работает эвристика;</a:t>
            </a:r>
          </a:p>
          <a:p>
            <a:r>
              <a:t>- PostgreSQL и Valkey;</a:t>
            </a:r>
          </a:p>
          <a:p>
            <a:r>
              <a:t>- метрики в Prometheus, логи в Loki, дашборды в Grafana.</a:t>
            </a:r>
          </a:p>
          <a:p/>
          <a:p>
            <a:r>
              <a:t>Весь API описан в Swagger. Проект поднимается одной командой в Docker. В демо только синтетические данные, по 152-ФЗ.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(4:30–4:45) Дальше:</a:t>
            </a:r>
          </a:p>
          <a:p>
            <a:r>
              <a:t>- валидация сценариев с экспертами ВСМ;</a:t>
            </a:r>
          </a:p>
          <a:p>
            <a:r>
              <a:t>- голосовой ответ с транскрибацией;</a:t>
            </a:r>
          </a:p>
          <a:p>
            <a:r>
              <a:t>- командные турниры бригад;</a:t>
            </a:r>
          </a:p>
          <a:p>
            <a:r>
              <a:t>- SSO и интеграция с LMS.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(4:45–5:00) Всё, что вы видели, уже работает на vsm-gamification.ru. Отсканируйте QR-код, логины на экране. Спасибо, ждём ваших вопросов.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69804" y="4501576"/>
            <a:ext cx="1920496" cy="289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">
  <p:cSld name="CUSTOM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3" title="190х32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869804" y="4501576"/>
            <a:ext cx="1920496" cy="289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 1">
  <p:cSld name="CUSTOM_2">
    <p:bg>
      <p:bgPr>
        <a:solidFill>
          <a:srgbClr val="3F6FD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4" title="190х32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869804" y="4501576"/>
            <a:ext cx="1920496" cy="289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 1 1">
  <p:cSld name="CUSTOM_2_1">
    <p:bg>
      <p:bgPr>
        <a:solidFill>
          <a:srgbClr val="3F6FD1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2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6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69804" y="4501576"/>
            <a:ext cx="1920496" cy="289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3">
  <p:cSld name="CUSTOM_3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1A1230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image" Target="../media/image37.png"/><Relationship Id="rId12" Type="http://schemas.openxmlformats.org/officeDocument/2006/relationships/image" Target="../media/image38.png"/><Relationship Id="rId13" Type="http://schemas.openxmlformats.org/officeDocument/2006/relationships/image" Target="../media/image39.png"/><Relationship Id="rId14" Type="http://schemas.openxmlformats.org/officeDocument/2006/relationships/image" Target="../media/image40.png"/><Relationship Id="rId15" Type="http://schemas.openxmlformats.org/officeDocument/2006/relationships/image" Target="../media/image41.png"/><Relationship Id="rId16" Type="http://schemas.openxmlformats.org/officeDocument/2006/relationships/image" Target="../media/image42.png"/><Relationship Id="rId17" Type="http://schemas.openxmlformats.org/officeDocument/2006/relationships/image" Target="../media/image43.png"/><Relationship Id="rId18" Type="http://schemas.openxmlformats.org/officeDocument/2006/relationships/image" Target="../media/image44.png"/><Relationship Id="rId19" Type="http://schemas.openxmlformats.org/officeDocument/2006/relationships/image" Target="../media/image45.png"/><Relationship Id="rId20" Type="http://schemas.openxmlformats.org/officeDocument/2006/relationships/image" Target="../media/image46.png"/><Relationship Id="rId21" Type="http://schemas.openxmlformats.org/officeDocument/2006/relationships/image" Target="../media/image47.png"/><Relationship Id="rId22" Type="http://schemas.openxmlformats.org/officeDocument/2006/relationships/image" Target="../media/image48.png"/><Relationship Id="rId2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9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4150" y="453400"/>
            <a:ext cx="2452075" cy="36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9"/>
          <p:cNvSpPr txBox="1"/>
          <p:nvPr/>
        </p:nvSpPr>
        <p:spPr>
          <a:xfrm>
            <a:off x="868680" y="3584448"/>
            <a:ext cx="7498079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Магистраль 400</a:t>
            </a:r>
            <a:endParaRPr sz="4200">
              <a:solidFill>
                <a:srgbClr val="FFFFFF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r>
              <a:rPr sz="13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Тренажёр нештатных ситуаций для проводников ВСМ · команда «Кокаманы»</a:t>
            </a:r>
          </a:p>
        </p:txBody>
      </p:sp>
      <p:pic>
        <p:nvPicPr>
          <p:cNvPr id="23" name="Google Shape;23;p9" title="Снимок экрана 2026-09-26 в 14.15.2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2718" y="1066610"/>
            <a:ext cx="7796072" cy="2503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60720" y="0"/>
            <a:ext cx="3383280" cy="5143500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0952" y="4014215"/>
            <a:ext cx="429768" cy="429768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901184" y="3602736"/>
            <a:ext cx="429768" cy="429768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471416" y="4014215"/>
            <a:ext cx="429768" cy="429768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h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214" y="310896"/>
            <a:ext cx="2164290" cy="4526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4048" y="566928"/>
            <a:ext cx="1677924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9FC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84048" y="566928"/>
            <a:ext cx="16779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ЭКСТРЕННАЯ СИТУАЦИЯ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024128"/>
            <a:ext cx="5120640" cy="1382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Потерялся ребёнок.</a:t>
            </a:r>
          </a:p>
          <a:p>
            <a:pPr algn="l">
              <a:lnSpc>
                <a:spcPct val="92000"/>
              </a:lnSpc>
            </a:pPr>
            <a:r>
              <a:rPr sz="40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Решать — вам.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51460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Поезд идёт 300 км/ч. Голосовое из 3-го вагона: девочка лет пяти потеряла маму. На решение — 15 секунд. Проводник ВСМ должен быть к этому готов.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566928"/>
            <a:ext cx="1133856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9FC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4048" y="566928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ЗАДАЧА КЕЙСА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987552"/>
            <a:ext cx="3657600" cy="1640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2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Лекции и тесты</a:t>
            </a:r>
          </a:p>
          <a:p>
            <a:pPr algn="l">
              <a:lnSpc>
                <a:spcPct val="92000"/>
              </a:lnSpc>
            </a:pPr>
            <a:r>
              <a:rPr sz="32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не учат решать</a:t>
            </a:r>
          </a:p>
          <a:p>
            <a:pPr algn="l">
              <a:lnSpc>
                <a:spcPct val="92000"/>
              </a:lnSpc>
            </a:pPr>
            <a:r>
              <a:rPr sz="32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за секунды.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78892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Нужна среда, где проводник отрабатывает нештатные ситуации под таймером и видит последствия каждого решения.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502920"/>
            <a:ext cx="2194560" cy="1755648"/>
          </a:xfrm>
          <a:prstGeom prst="roundRect">
            <a:avLst>
              <a:gd name="adj" fmla="val 8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425696" y="685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230"/>
                </a:solidFill>
                <a:latin typeface="Moscow Sans Regular"/>
                <a:ea typeface="Moscow Sans Regular"/>
                <a:cs typeface="Moscow Sans Regula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5696" y="97840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Стресс и дефицит времени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Классическое обучение не тренирует решения под давлением.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56248" y="502920"/>
            <a:ext cx="2194560" cy="1755648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757416" y="685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7416" y="97840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Нет безопасной среды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57416" y="15544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Нештатную ситуацию не отрепетируешь на живых пассажирах.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2423160"/>
            <a:ext cx="2194560" cy="1755648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696" y="2606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8986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Soft skills сложно оценить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34747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Как объективно измерить, что проводник поступил правильно?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6248" y="2423160"/>
            <a:ext cx="2194560" cy="1755648"/>
          </a:xfrm>
          <a:prstGeom prst="roundRect">
            <a:avLst>
              <a:gd name="adj" fmla="val 8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57416" y="2606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230"/>
                </a:solidFill>
                <a:latin typeface="Moscow Sans Regular"/>
                <a:ea typeface="Moscow Sans Regular"/>
                <a:cs typeface="Moscow Sans Regular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57416" y="28986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Низкая мотивация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7416" y="34747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Постоянное развитие без азарта превращается в обязаловку.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858768"/>
            <a:ext cx="8586216" cy="950976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8912" y="3858768"/>
            <a:ext cx="822960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Тренажёр проводника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8357616" y="320040"/>
            <a:ext cx="429768" cy="429768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74920" y="0"/>
            <a:ext cx="4069080" cy="5143500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645152" y="4014215"/>
            <a:ext cx="429768" cy="429768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215384" y="3602736"/>
            <a:ext cx="429768" cy="429768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h_ch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204" y="530352"/>
            <a:ext cx="1945675" cy="4069080"/>
          </a:xfrm>
          <a:prstGeom prst="rect">
            <a:avLst/>
          </a:prstGeom>
        </p:spPr>
      </p:pic>
      <p:pic>
        <p:nvPicPr>
          <p:cNvPr id="6" name="Picture 5" descr="ph_feed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530352"/>
            <a:ext cx="1945675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4048" y="566928"/>
            <a:ext cx="2221992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9FC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84048" y="566928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РЕЙС «ДВОЕ НА ОДНОМ МЕСТЕ»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005840"/>
            <a:ext cx="4023360" cy="13178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8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Решение —</a:t>
            </a:r>
          </a:p>
          <a:p>
            <a:pPr algn="l">
              <a:lnSpc>
                <a:spcPct val="92000"/>
              </a:lnSpc>
            </a:pPr>
            <a:r>
              <a:rPr sz="38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под таймером.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33172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Нелинейный диалог: каждое решение ведёт в свою ветку. Истекло время — срабатывает ветка с последствиями.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" y="32461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im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19272"/>
            <a:ext cx="219456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6968" y="3236976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Таймер 10–25 с </a:t>
            </a:r>
            <a:r>
              <a:rPr sz="12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на критическое решение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" y="3749039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al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822191"/>
            <a:ext cx="219456" cy="2194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6968" y="3739896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Ошибка: пассажир 60 → 45 </a:t>
            </a:r>
            <a:r>
              <a:rPr sz="12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и грозит жалобой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61888" y="219456"/>
            <a:ext cx="2971800" cy="3995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532120" y="4215384"/>
            <a:ext cx="429768" cy="429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102352" y="3813048"/>
            <a:ext cx="429768" cy="429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h_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0535" y="320040"/>
            <a:ext cx="1814506" cy="3794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" y="502920"/>
            <a:ext cx="1211580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4048" y="502920"/>
            <a:ext cx="12115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ДВОЙНАЯ ШКАЛА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14400"/>
            <a:ext cx="5120640" cy="1059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Лояльность пассажира</a:t>
            </a:r>
          </a:p>
          <a:p>
            <a:pPr algn="l">
              <a:lnSpc>
                <a:spcPct val="92000"/>
              </a:lnSpc>
            </a:pPr>
            <a:r>
              <a:rPr sz="3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и безопасность.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05740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Лояльность пассажира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0208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85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" y="2368296"/>
            <a:ext cx="4096512" cy="91440"/>
          </a:xfrm>
          <a:prstGeom prst="roundRect">
            <a:avLst>
              <a:gd name="adj" fmla="val 50000"/>
            </a:avLst>
          </a:prstGeom>
          <a:solidFill>
            <a:srgbClr val="2E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84048" y="2368296"/>
            <a:ext cx="3482035" cy="914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84048" y="262432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Рейтинг безопасности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877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85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2935224"/>
            <a:ext cx="4096512" cy="91440"/>
          </a:xfrm>
          <a:prstGeom prst="roundRect">
            <a:avLst>
              <a:gd name="adj" fmla="val 50000"/>
            </a:avLst>
          </a:prstGeom>
          <a:solidFill>
            <a:srgbClr val="2E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84048" y="2935224"/>
            <a:ext cx="3482035" cy="91440"/>
          </a:xfrm>
          <a:prstGeom prst="roundRect">
            <a:avLst>
              <a:gd name="adj" fmla="val 50000"/>
            </a:avLst>
          </a:prstGeom>
          <a:solidFill>
            <a:srgbClr val="9F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84048" y="324612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После рейса — разбор каждого решения: что пошло не так, как было правильно и кого звать. Не просто «верно / неверно».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41148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+142 </a:t>
            </a:r>
            <a:r>
              <a:rPr sz="11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очка компетенций за рейс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566928"/>
            <a:ext cx="900684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9FC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4048" y="566928"/>
            <a:ext cx="9006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СПЕЦИВЕНТ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987552"/>
            <a:ext cx="4206240" cy="1124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2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Посреди смены —</a:t>
            </a:r>
          </a:p>
          <a:p>
            <a:pPr algn="l">
              <a:lnSpc>
                <a:spcPct val="92000"/>
              </a:lnSpc>
            </a:pPr>
            <a:r>
              <a:rPr sz="32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внезапный вызов.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21945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67712"/>
            <a:ext cx="219456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" y="2185416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Голосовое сообщение </a:t>
            </a:r>
            <a:r>
              <a:rPr sz="115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— учимся воспринимать информацию на слух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69748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70632"/>
            <a:ext cx="21945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6968" y="2688336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Хард-уровень </a:t>
            </a:r>
            <a:r>
              <a:rPr sz="115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— голосовое на английском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" y="32004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73552"/>
            <a:ext cx="219456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6968" y="3191256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Свободный ответ </a:t>
            </a:r>
            <a:r>
              <a:rPr sz="115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оценивает ИИ-наставник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" y="37033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776472"/>
            <a:ext cx="219456" cy="2194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6968" y="3694176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Руководитель запускает </a:t>
            </a:r>
            <a:r>
              <a:rPr sz="115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для всех или выбранных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566928"/>
            <a:ext cx="3931920" cy="1600200"/>
          </a:xfrm>
          <a:prstGeom prst="roundRect">
            <a:avLst>
              <a:gd name="adj" fmla="val 8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74920" y="749808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ВЫЗОВ ОТ РУКОВОДИТЕЛЯ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98755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Hard: голосовое на английском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4920" y="1481328"/>
            <a:ext cx="3474720" cy="475488"/>
          </a:xfrm>
          <a:prstGeom prst="roundRect">
            <a:avLst>
              <a:gd name="adj" fmla="val 50000"/>
            </a:avLst>
          </a:prstGeom>
          <a:solidFill>
            <a:srgbClr val="2E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5138928" y="153619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sosceles Triangle 21"/>
          <p:cNvSpPr/>
          <p:nvPr/>
        </p:nvSpPr>
        <p:spPr>
          <a:xfrm rot="5400000">
            <a:off x="5266944" y="1627632"/>
            <a:ext cx="146304" cy="182880"/>
          </a:xfrm>
          <a:prstGeom prst="triangle">
            <a:avLst/>
          </a:prstGeom>
          <a:solidFill>
            <a:srgbClr val="3F6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23560" y="1611630"/>
            <a:ext cx="45720" cy="2148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5719572" y="1659636"/>
            <a:ext cx="45720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5815584" y="1659636"/>
            <a:ext cx="45720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911596" y="1611630"/>
            <a:ext cx="45720" cy="2148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007608" y="1675637"/>
            <a:ext cx="45720" cy="868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103620" y="1643634"/>
            <a:ext cx="45720" cy="1508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199632" y="1627631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295644" y="1691639"/>
            <a:ext cx="45720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6391656" y="1627631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487668" y="1643634"/>
            <a:ext cx="45720" cy="1508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6583680" y="1675637"/>
            <a:ext cx="45720" cy="868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6679692" y="1611630"/>
            <a:ext cx="45720" cy="2148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6775704" y="1659636"/>
            <a:ext cx="45720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871716" y="1659636"/>
            <a:ext cx="45720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967728" y="1611630"/>
            <a:ext cx="45720" cy="2148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7063740" y="1675637"/>
            <a:ext cx="45720" cy="868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7159752" y="1643634"/>
            <a:ext cx="45720" cy="1508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7255764" y="1627631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7351776" y="1691639"/>
            <a:ext cx="45720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7447788" y="1627631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7543800" y="1643634"/>
            <a:ext cx="45720" cy="1508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639812" y="1675637"/>
            <a:ext cx="45720" cy="868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7735824" y="1611630"/>
            <a:ext cx="45720" cy="2148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7831836" y="1659636"/>
            <a:ext cx="45720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7927848" y="1659636"/>
            <a:ext cx="45720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8023860" y="1611630"/>
            <a:ext cx="45720" cy="2148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8119872" y="1675637"/>
            <a:ext cx="45720" cy="868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8215883" y="1643634"/>
            <a:ext cx="45720" cy="1508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8311896" y="1627631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8407908" y="1691639"/>
            <a:ext cx="45720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4846320" y="2331720"/>
            <a:ext cx="39319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074920" y="2487168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673"/>
                </a:solidFill>
                <a:latin typeface="Moscow Sans Regular"/>
                <a:ea typeface="Moscow Sans Regular"/>
                <a:cs typeface="Moscow Sans Regular"/>
              </a:rPr>
              <a:t>ВАШ ОТВЕТ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74920" y="2724912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230"/>
                </a:solidFill>
                <a:latin typeface="Moscow Sans Regular"/>
                <a:ea typeface="Moscow Sans Regular"/>
                <a:cs typeface="Moscow Sans Regular"/>
              </a:rPr>
              <a:t>Please stay calm, I am here to help. I'm sorry, we can't give medicine, but the train manager is coming and we will find a doctor.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846320" y="3913632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2B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986784"/>
            <a:ext cx="219456" cy="21945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349240" y="3904488"/>
            <a:ext cx="3429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ИИ-наставник </a:t>
            </a:r>
            <a:r>
              <a:rPr sz="11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оценивает ответ по регламенту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7616" y="320040"/>
            <a:ext cx="429768" cy="429768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7260336" y="731520"/>
            <a:ext cx="1097280" cy="429768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84048" y="566928"/>
            <a:ext cx="1133856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9FC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84048" y="566928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РАЗ В НЕДЕЛЮ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987552"/>
            <a:ext cx="4572000" cy="73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Турнир недели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73736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Все заходят одновременно и отвечают на время. Решают точность и скорость.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27432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456432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вопросов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7048" y="27432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15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456432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на 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27432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Топ-10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3456432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трофей и +100 очков компетенций</a:t>
            </a:r>
          </a:p>
        </p:txBody>
      </p:sp>
      <p:pic>
        <p:nvPicPr>
          <p:cNvPr id="14" name="Picture 13" descr="ph_tourna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502920"/>
            <a:ext cx="1858229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566928"/>
            <a:ext cx="1522476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9FC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4048" y="566928"/>
            <a:ext cx="15224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ПРОФИЛЬ И РЕЙТИНГ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987552"/>
            <a:ext cx="4206240" cy="1124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2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Прогресс виден</a:t>
            </a:r>
          </a:p>
          <a:p>
            <a:pPr algn="l">
              <a:lnSpc>
                <a:spcPct val="92000"/>
              </a:lnSpc>
            </a:pPr>
            <a:r>
              <a:rPr sz="32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каждый день.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21031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76272"/>
            <a:ext cx="219456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" y="2093976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8 уровней </a:t>
            </a:r>
            <a:r>
              <a:rPr sz="11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— от «Стажёра» до «Легенды магистрали»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578608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e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51760"/>
            <a:ext cx="21945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6968" y="2569464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14 ачивок </a:t>
            </a:r>
            <a:r>
              <a:rPr sz="11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и турнирные трофеи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" y="3054096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127248"/>
            <a:ext cx="219456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6968" y="3044952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Рейтинг </a:t>
            </a:r>
            <a:r>
              <a:rPr sz="11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по компании, депо и бригаде — за неделю и всё время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" y="3529584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ada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602736"/>
            <a:ext cx="219456" cy="2194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6968" y="352044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Адаптивная сложность: </a:t>
            </a:r>
            <a:r>
              <a:rPr sz="11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следующий рейс — по слабым местам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" y="4005072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b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078224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6968" y="3995928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Уведомления: </a:t>
            </a:r>
            <a:r>
              <a:rPr sz="11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новые сценарии, турнир и «рейтинг скоро обнулится»</a:t>
            </a:r>
          </a:p>
        </p:txBody>
      </p:sp>
      <p:pic>
        <p:nvPicPr>
          <p:cNvPr id="20" name="Picture 19" descr="ph_leader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74920" y="411480"/>
            <a:ext cx="1792644" cy="3749039"/>
          </a:xfrm>
          <a:prstGeom prst="rect">
            <a:avLst/>
          </a:prstGeom>
        </p:spPr>
      </p:pic>
      <p:pic>
        <p:nvPicPr>
          <p:cNvPr id="21" name="Picture 20" descr="ph_profi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4724" y="411480"/>
            <a:ext cx="1792644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858768"/>
            <a:ext cx="8586216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8912" y="3858768"/>
            <a:ext cx="822960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0">
                <a:solidFill>
                  <a:srgbClr val="1A1230"/>
                </a:solidFill>
                <a:latin typeface="Moscow Sans Regular"/>
                <a:ea typeface="Moscow Sans Regular"/>
                <a:cs typeface="Moscow Sans Regular"/>
              </a:rPr>
              <a:t>Руководитель и HR</a:t>
            </a:r>
          </a:p>
        </p:txBody>
      </p:sp>
      <p:sp>
        <p:nvSpPr>
          <p:cNvPr id="4" name="Rectangle 3"/>
          <p:cNvSpPr/>
          <p:nvPr/>
        </p:nvSpPr>
        <p:spPr>
          <a:xfrm>
            <a:off x="8357616" y="320040"/>
            <a:ext cx="429768" cy="429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927848" y="749808"/>
            <a:ext cx="429768" cy="429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_employ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502920"/>
            <a:ext cx="5577840" cy="368137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535871" y="1604543"/>
            <a:ext cx="4267047" cy="251002"/>
          </a:xfrm>
          <a:prstGeom prst="roundRect">
            <a:avLst>
              <a:gd name="adj" fmla="val 20000"/>
            </a:avLst>
          </a:prstGeom>
          <a:noFill/>
          <a:ln w="28575">
            <a:solidFill>
              <a:srgbClr val="9FC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377440" y="1993163"/>
            <a:ext cx="29718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5456" y="2066315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816352" y="1993163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A1230"/>
                </a:solidFill>
                <a:latin typeface="Moscow Sans Regular"/>
                <a:ea typeface="Moscow Sans Regular"/>
                <a:cs typeface="Moscow Sans Regular"/>
              </a:rPr>
              <a:t>Безопасность </a:t>
            </a:r>
            <a:r>
              <a:rPr sz="1500" b="0">
                <a:solidFill>
                  <a:srgbClr val="D7263D"/>
                </a:solidFill>
                <a:latin typeface="Moscow Sans Regular"/>
                <a:ea typeface="Moscow Sans Regular"/>
                <a:cs typeface="Moscow Sans Regular"/>
              </a:rPr>
              <a:t>−6,7</a:t>
            </a:r>
            <a:r>
              <a:rPr sz="1200" b="0">
                <a:solidFill>
                  <a:srgbClr val="1A1230"/>
                </a:solidFill>
                <a:latin typeface="Moscow Sans Regular"/>
                <a:ea typeface="Moscow Sans Regular"/>
                <a:cs typeface="Moscow Sans Regular"/>
              </a:rPr>
              <a:t> за месяц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566928"/>
            <a:ext cx="1522476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9FC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63640" y="566928"/>
            <a:ext cx="15224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РУКОВОДИТЕЛЬ И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987552"/>
            <a:ext cx="2651760" cy="15437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Видно,</a:t>
            </a:r>
          </a:p>
          <a:p>
            <a:pPr algn="l">
              <a:lnSpc>
                <a:spcPct val="92000"/>
              </a:lnSpc>
            </a:pPr>
            <a:r>
              <a:rPr sz="3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кому нужна</a:t>
            </a:r>
          </a:p>
          <a:p>
            <a:pPr algn="l">
              <a:lnSpc>
                <a:spcPct val="92000"/>
              </a:lnSpc>
            </a:pPr>
            <a:r>
              <a:rPr sz="30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помощь.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97480"/>
            <a:ext cx="2514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Дашборд активности, частые ошибки, карточки сотрудников и готовность к повышению. Отчёты для HR — в Excel и 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566928"/>
            <a:ext cx="1133856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9FC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4048" y="566928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ИИ-АССИСТЕНТ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987552"/>
            <a:ext cx="3108960" cy="1640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2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Спросите</a:t>
            </a:r>
          </a:p>
          <a:p>
            <a:pPr algn="l">
              <a:lnSpc>
                <a:spcPct val="92000"/>
              </a:lnSpc>
            </a:pPr>
            <a:r>
              <a:rPr sz="32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обычными</a:t>
            </a:r>
          </a:p>
          <a:p>
            <a:pPr algn="l">
              <a:lnSpc>
                <a:spcPct val="92000"/>
              </a:lnSpc>
            </a:pPr>
            <a:r>
              <a:rPr sz="32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словами.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278892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2898648"/>
            <a:ext cx="2697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«Покажи всех проводников, у кого упал рейтинг безопасности за месяц»</a:t>
            </a:r>
          </a:p>
        </p:txBody>
      </p:sp>
      <p:pic>
        <p:nvPicPr>
          <p:cNvPr id="7" name="Picture 6" descr="br_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566928"/>
            <a:ext cx="5074920" cy="33494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703320" y="4053535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Ответ строится по текущим данным · GigaChat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_gene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84048"/>
            <a:ext cx="5257800" cy="383819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2392" y="4002785"/>
            <a:ext cx="429768" cy="429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080760" y="566928"/>
            <a:ext cx="1133856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80760" y="566928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ГЕНЕРАЦИЯ 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987552"/>
            <a:ext cx="2834640" cy="15437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Сценарий</a:t>
            </a:r>
          </a:p>
          <a:p>
            <a:pPr algn="l">
              <a:lnSpc>
                <a:spcPct val="92000"/>
              </a:lnSpc>
            </a:pPr>
            <a:r>
              <a:rPr sz="3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из ТЗ</a:t>
            </a:r>
          </a:p>
          <a:p>
            <a:pPr algn="l">
              <a:lnSpc>
                <a:spcPct val="92000"/>
              </a:lnSpc>
            </a:pPr>
            <a:r>
              <a:rPr sz="3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инструктора.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2697480"/>
            <a:ext cx="2697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ИИ собирает черновик ветвящегося сценария: реплики, варианты ответа, таймеры и влияние на шкалы. Инструктор правит его в редакторе графа и публикует — без правки кода.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858768"/>
            <a:ext cx="8586216" cy="950976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8912" y="3858768"/>
            <a:ext cx="822960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Под капотом</a:t>
            </a:r>
          </a:p>
        </p:txBody>
      </p:sp>
      <p:sp>
        <p:nvSpPr>
          <p:cNvPr id="4" name="Rectangle 3"/>
          <p:cNvSpPr/>
          <p:nvPr/>
        </p:nvSpPr>
        <p:spPr>
          <a:xfrm>
            <a:off x="8357616" y="320040"/>
            <a:ext cx="429768" cy="429768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9260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Модульно, с открытым API.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8" y="1874519"/>
            <a:ext cx="1463040" cy="749808"/>
          </a:xfrm>
          <a:prstGeom prst="roundRect">
            <a:avLst>
              <a:gd name="adj" fmla="val 10000"/>
            </a:avLst>
          </a:prstGeom>
          <a:solidFill>
            <a:srgbClr val="271D47"/>
          </a:solidFill>
          <a:ln w="12700">
            <a:solidFill>
              <a:srgbClr val="3A2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12064" y="196596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КЛИЕНТЫ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21488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Web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40487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Браузер или web 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99616" y="1947672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de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409" y="1990465"/>
            <a:ext cx="152156" cy="1521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121408" y="1874519"/>
            <a:ext cx="1463040" cy="749808"/>
          </a:xfrm>
          <a:prstGeom prst="roundRect">
            <a:avLst>
              <a:gd name="adj" fmla="val 10000"/>
            </a:avLst>
          </a:prstGeom>
          <a:solidFill>
            <a:srgbClr val="271D47"/>
          </a:solidFill>
          <a:ln w="12700">
            <a:solidFill>
              <a:srgbClr val="3A2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9424" y="196596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ВХОД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9424" y="21488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Caddy · nginx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424" y="240487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HTTPS, прокси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36976" y="1947672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ngin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9769" y="1990465"/>
            <a:ext cx="152156" cy="1521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962656" y="1947672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cadd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5449" y="1990465"/>
            <a:ext cx="152156" cy="15215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3858768" y="1051560"/>
            <a:ext cx="1874519" cy="749808"/>
          </a:xfrm>
          <a:prstGeom prst="roundRect">
            <a:avLst>
              <a:gd name="adj" fmla="val 10000"/>
            </a:avLst>
          </a:prstGeom>
          <a:solidFill>
            <a:srgbClr val="271D47"/>
          </a:solidFill>
          <a:ln w="12700">
            <a:solidFill>
              <a:srgbClr val="3A2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986783" y="1143000"/>
            <a:ext cx="16001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6783" y="1325880"/>
            <a:ext cx="1691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React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6783" y="1581912"/>
            <a:ext cx="16916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TypeScript · Vite · Tailwind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85816" y="1124712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tailwindc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8609" y="1167505"/>
            <a:ext cx="152156" cy="15215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111495" y="1124712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v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4289" y="1167505"/>
            <a:ext cx="152156" cy="15215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4837175" y="1124712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typescrip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9969" y="1167505"/>
            <a:ext cx="152156" cy="15215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4562855" y="1124712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rea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5649" y="1167505"/>
            <a:ext cx="152156" cy="15215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858768" y="2377440"/>
            <a:ext cx="1874519" cy="749808"/>
          </a:xfrm>
          <a:prstGeom prst="roundRect">
            <a:avLst>
              <a:gd name="adj" fmla="val 10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986783" y="2468880"/>
            <a:ext cx="16001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BACKEND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6783" y="2651760"/>
            <a:ext cx="1691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FastAPI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86783" y="2907792"/>
            <a:ext cx="16916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Сценарии, очки, турниры, API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85816" y="2450592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2E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pyth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28609" y="2493385"/>
            <a:ext cx="152156" cy="152156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5111495" y="2450592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2E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fastap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4289" y="2493385"/>
            <a:ext cx="152156" cy="1521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355080" y="914400"/>
            <a:ext cx="2423160" cy="749808"/>
          </a:xfrm>
          <a:prstGeom prst="roundRect">
            <a:avLst>
              <a:gd name="adj" fmla="val 10000"/>
            </a:avLst>
          </a:prstGeom>
          <a:solidFill>
            <a:srgbClr val="271D47"/>
          </a:solidFill>
          <a:ln w="12700">
            <a:solidFill>
              <a:srgbClr val="3A2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83096" y="1005840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ДАННЫЕ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83096" y="1188720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PostgreSQL 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83096" y="1444752"/>
            <a:ext cx="22402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Сотрудники, сценарии, прогресс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30768" y="987552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postgresq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3561" y="1030345"/>
            <a:ext cx="152156" cy="152156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355080" y="1783080"/>
            <a:ext cx="2423160" cy="749808"/>
          </a:xfrm>
          <a:prstGeom prst="roundRect">
            <a:avLst>
              <a:gd name="adj" fmla="val 10000"/>
            </a:avLst>
          </a:prstGeom>
          <a:solidFill>
            <a:srgbClr val="271D47"/>
          </a:solidFill>
          <a:ln w="12700">
            <a:solidFill>
              <a:srgbClr val="3A2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83096" y="1874519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ОЧЕРЕДИ И КЭШ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83096" y="2057400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Valkey 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83096" y="2313432"/>
            <a:ext cx="22402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Турнир онлайн, специвенты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1856231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valke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73561" y="1899025"/>
            <a:ext cx="152156" cy="152156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6355080" y="2651760"/>
            <a:ext cx="2423160" cy="749808"/>
          </a:xfrm>
          <a:prstGeom prst="roundRect">
            <a:avLst>
              <a:gd name="adj" fmla="val 10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483096" y="2743200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ML-СЕРВИС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83096" y="2926079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GigaChat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83096" y="3182112"/>
            <a:ext cx="22402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Оценка ответов, генерация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2724912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2E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gigach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3561" y="2767705"/>
            <a:ext cx="152156" cy="152156"/>
          </a:xfrm>
          <a:prstGeom prst="rect">
            <a:avLst/>
          </a:prstGeom>
        </p:spPr>
      </p:pic>
      <p:cxnSp>
        <p:nvCxnSpPr>
          <p:cNvPr id="55" name="Connector 54"/>
          <p:cNvCxnSpPr/>
          <p:nvPr/>
        </p:nvCxnSpPr>
        <p:spPr>
          <a:xfrm>
            <a:off x="1847088" y="2249424"/>
            <a:ext cx="274320" cy="0"/>
          </a:xfrm>
          <a:prstGeom prst="bentConnector3">
            <a:avLst/>
          </a:prstGeom>
          <a:ln w="19050">
            <a:solidFill>
              <a:srgbClr val="9F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584448" y="1426463"/>
            <a:ext cx="274320" cy="822961"/>
          </a:xfrm>
          <a:prstGeom prst="bentConnector3">
            <a:avLst/>
          </a:prstGeom>
          <a:ln w="19050">
            <a:solidFill>
              <a:srgbClr val="9F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584448" y="2249424"/>
            <a:ext cx="274320" cy="502920"/>
          </a:xfrm>
          <a:prstGeom prst="bentConnector3">
            <a:avLst/>
          </a:prstGeom>
          <a:ln w="19050">
            <a:solidFill>
              <a:srgbClr val="9F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5733288" y="1289304"/>
            <a:ext cx="621792" cy="1463040"/>
          </a:xfrm>
          <a:prstGeom prst="bentConnector3">
            <a:avLst/>
          </a:prstGeom>
          <a:ln w="19050">
            <a:solidFill>
              <a:srgbClr val="9F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733288" y="2157984"/>
            <a:ext cx="621792" cy="594360"/>
          </a:xfrm>
          <a:prstGeom prst="bentConnector3">
            <a:avLst/>
          </a:prstGeom>
          <a:ln w="19050">
            <a:solidFill>
              <a:srgbClr val="9F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733288" y="2752344"/>
            <a:ext cx="621792" cy="274320"/>
          </a:xfrm>
          <a:prstGeom prst="bentConnector3">
            <a:avLst/>
          </a:prstGeom>
          <a:ln w="19050">
            <a:solidFill>
              <a:srgbClr val="9F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796027" y="3127248"/>
            <a:ext cx="0" cy="484632"/>
          </a:xfrm>
          <a:prstGeom prst="line">
            <a:avLst/>
          </a:prstGeom>
          <a:ln w="19050">
            <a:solidFill>
              <a:srgbClr val="6F6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566660" y="3401568"/>
            <a:ext cx="0" cy="210312"/>
          </a:xfrm>
          <a:prstGeom prst="line">
            <a:avLst/>
          </a:prstGeom>
          <a:ln w="19050">
            <a:solidFill>
              <a:srgbClr val="6F6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384048" y="3611880"/>
            <a:ext cx="8394192" cy="566928"/>
          </a:xfrm>
          <a:prstGeom prst="roundRect">
            <a:avLst>
              <a:gd name="adj" fmla="val 18000"/>
            </a:avLst>
          </a:prstGeom>
          <a:solidFill>
            <a:srgbClr val="271D47"/>
          </a:solidFill>
          <a:ln w="12700">
            <a:solidFill>
              <a:srgbClr val="3A2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548640" y="37033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НАБЛЮДАЕМОСТЬ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3895344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метрики, логи, дашборды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48840" y="372160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7" name="Picture 66" descr="prometheu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11384" y="3784152"/>
            <a:ext cx="222382" cy="22238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69464" y="3712463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Prometheus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69464" y="39136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метрики API и ИИ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83864" y="372160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1" name="Picture 70" descr="alloy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46408" y="3784152"/>
            <a:ext cx="222382" cy="22238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904488" y="3712463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Alloy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04488" y="39136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сбор логов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818888" y="372160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5" name="Picture 74" descr="loki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881432" y="3784152"/>
            <a:ext cx="222382" cy="22238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239512" y="3712463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Loki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39512" y="39136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хранение логов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53912" y="372160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9" name="Picture 78" descr="grafan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16456" y="3784152"/>
            <a:ext cx="222382" cy="22238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574536" y="3712463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Grafana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74536" y="39136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дашборды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488936" y="372160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3" name="Picture 82" descr="pgadmi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51480" y="3784152"/>
            <a:ext cx="222382" cy="22238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7909560" y="3712463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pgAdmin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39136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доступ к БД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84048" y="4315968"/>
            <a:ext cx="1499616" cy="274320"/>
          </a:xfrm>
          <a:prstGeom prst="roundRect">
            <a:avLst>
              <a:gd name="adj" fmla="val 50000"/>
            </a:avLst>
          </a:prstGeom>
          <a:solidFill>
            <a:srgbClr val="271D47"/>
          </a:solidFill>
          <a:ln w="12700">
            <a:solidFill>
              <a:srgbClr val="3A2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7" name="Picture 86" descr="swagger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6344" y="4361688"/>
            <a:ext cx="182880" cy="18288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694944" y="4315968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Swagger / OpenAPI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975104" y="4315968"/>
            <a:ext cx="1883664" cy="274320"/>
          </a:xfrm>
          <a:prstGeom prst="roundRect">
            <a:avLst>
              <a:gd name="adj" fmla="val 50000"/>
            </a:avLst>
          </a:prstGeom>
          <a:solidFill>
            <a:srgbClr val="271D47"/>
          </a:solidFill>
          <a:ln w="12700">
            <a:solidFill>
              <a:srgbClr val="3A2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0" name="Picture 89" descr="sheet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57400" y="4361688"/>
            <a:ext cx="182880" cy="18288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2286000" y="4315968"/>
            <a:ext cx="15361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JSON и Excel для HR/LMS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950208" y="4315968"/>
            <a:ext cx="1307592" cy="274320"/>
          </a:xfrm>
          <a:prstGeom prst="roundRect">
            <a:avLst>
              <a:gd name="adj" fmla="val 50000"/>
            </a:avLst>
          </a:prstGeom>
          <a:solidFill>
            <a:srgbClr val="271D47"/>
          </a:solidFill>
          <a:ln w="12700">
            <a:solidFill>
              <a:srgbClr val="3A2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3" name="Picture 92" descr="docker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032504" y="4361688"/>
            <a:ext cx="182880" cy="18288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4261104" y="43159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Docker Compose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349240" y="4315968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271D47"/>
          </a:solidFill>
          <a:ln w="12700">
            <a:solidFill>
              <a:srgbClr val="3A2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6" name="Picture 95" descr="githubactions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431536" y="4361688"/>
            <a:ext cx="182880" cy="18288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660136" y="4315968"/>
            <a:ext cx="7680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CI/CD → VPS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7616" y="320040"/>
            <a:ext cx="429768" cy="429768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84048" y="566928"/>
            <a:ext cx="1522476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9FC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566928"/>
            <a:ext cx="15224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СЛЕДУЮЩИЕ СТАНЦИИ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5486400" cy="704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8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После хакатона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8138160" cy="45720"/>
          </a:xfrm>
          <a:prstGeom prst="rect">
            <a:avLst/>
          </a:prstGeom>
          <a:solidFill>
            <a:srgbClr val="9F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429768" y="1993392"/>
            <a:ext cx="256032" cy="25603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84048" y="2423160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Контент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834640"/>
            <a:ext cx="1920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— Валидация сценариев с экспертами ВСМ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— Медиа из задания: фото, видео, аудио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— Больше должностей и компетенций</a:t>
            </a:r>
          </a:p>
        </p:txBody>
      </p:sp>
      <p:sp>
        <p:nvSpPr>
          <p:cNvPr id="10" name="Oval 9"/>
          <p:cNvSpPr/>
          <p:nvPr/>
        </p:nvSpPr>
        <p:spPr>
          <a:xfrm>
            <a:off x="2551175" y="1993392"/>
            <a:ext cx="256032" cy="25603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505456" y="2423160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ИИ и оценка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5456" y="2834640"/>
            <a:ext cx="1920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— Калибровка рубрик на экспертной разметке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— Голосовой ответ: запись и транскрибация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— Переключение между LLM-провайдерами</a:t>
            </a:r>
          </a:p>
        </p:txBody>
      </p:sp>
      <p:sp>
        <p:nvSpPr>
          <p:cNvPr id="13" name="Oval 12"/>
          <p:cNvSpPr/>
          <p:nvPr/>
        </p:nvSpPr>
        <p:spPr>
          <a:xfrm>
            <a:off x="4672583" y="1993392"/>
            <a:ext cx="256032" cy="25603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26864" y="2423160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Продукт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834640"/>
            <a:ext cx="1920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— Командные турниры бригад и депо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— Лиги и сезоны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— PWA поверх web view</a:t>
            </a:r>
          </a:p>
        </p:txBody>
      </p:sp>
      <p:sp>
        <p:nvSpPr>
          <p:cNvPr id="16" name="Oval 15"/>
          <p:cNvSpPr/>
          <p:nvPr/>
        </p:nvSpPr>
        <p:spPr>
          <a:xfrm>
            <a:off x="6793991" y="1993392"/>
            <a:ext cx="256032" cy="25603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748271" y="2423160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Интеграции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8271" y="2834640"/>
            <a:ext cx="1920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— SSO с системами ВСМ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— Глубже с LMS и HR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— Импорт сотрудников и учебных групп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7616" y="320040"/>
            <a:ext cx="429768" cy="429768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7927848" y="749808"/>
            <a:ext cx="429768" cy="429768"/>
          </a:xfrm>
          <a:prstGeom prst="rect">
            <a:avLst/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50292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Магистраль 400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430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Тренажёр нештатных ситуаций для проводников ВСМ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83080"/>
            <a:ext cx="8394192" cy="251460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 w="12700">
            <a:solidFill>
              <a:srgbClr val="3A2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66928" y="1938528"/>
            <a:ext cx="21945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29968"/>
            <a:ext cx="201168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3240" y="2057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ПОПРОБУЙТЕ ПРЯМО СЕЙЧАС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331720"/>
            <a:ext cx="56692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vsm-gamification</a:t>
            </a:r>
            <a:r>
              <a:rPr sz="380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.ru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154680"/>
            <a:ext cx="3566160" cy="347472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246120" y="3154680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Проводник   </a:t>
            </a:r>
            <a:r>
              <a:rPr sz="11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demo@m400.ru / demo123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611880"/>
            <a:ext cx="3566160" cy="347472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246120" y="3611880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9FC5E8"/>
                </a:solidFill>
                <a:latin typeface="Moscow Sans Regular"/>
                <a:ea typeface="Moscow Sans Regular"/>
                <a:cs typeface="Moscow Sans Regular"/>
              </a:rPr>
              <a:t>Руководитель   </a:t>
            </a:r>
            <a:r>
              <a:rPr sz="1150" b="0">
                <a:solidFill>
                  <a:srgbClr val="FFFFFF"/>
                </a:solidFill>
                <a:latin typeface="Moscow Sans Regular"/>
                <a:ea typeface="Moscow Sans Regular"/>
                <a:cs typeface="Moscow Sans Regular"/>
              </a:rPr>
              <a:t>lead@m400.ru / lead123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52628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9B3D1"/>
                </a:solidFill>
                <a:latin typeface="Moscow Sans Regular"/>
                <a:ea typeface="Moscow Sans Regular"/>
                <a:cs typeface="Moscow Sans Regular"/>
              </a:rPr>
              <a:t>Команда «Кокаманы» · Хакатон Московского транспорта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