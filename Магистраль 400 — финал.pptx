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8.xml" ContentType="application/vnd.openxmlformats-officedocument.them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embedTrueTypeFonts="1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</p:sldIdLst>
  <p:sldSz cx="9144000" cy="5143500"/>
  <p:notesSz cx="6858000" cy="9144000"/>
  <p:embeddedFontLst>
    <p:embeddedFont>
      <p:font typeface="Moscow Sans Regular"/>
    </p:embeddedFont>
  </p:embeddedFon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8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перемещения страницы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формата примечаний щёлкните мышью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&lt;верхний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&lt;дата/время&gt;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&lt;нижний колонтитул&gt;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03E8966-57D4-4009-AE3E-8075F465FC98}" type="slidenum"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&lt;номер&gt;</a:t>
            </a:fld>
            <a:endParaRPr lang="ru-RU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520" cy="3428640"/>
          </a:xfrm>
          <a:prstGeom prst="rect">
            <a:avLst/>
          </a:prstGeom>
          <a:ln w="0">
            <a:noFill/>
          </a:ln>
        </p:spPr>
      </p:sp>
      <p:sp>
        <p:nvSpPr>
          <p:cNvPr id="18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(0:25–0:40) Мы команда «Кокаманы», и это «Магистраль 400», тренажёр нештатных ситуаций для проводников ВСМ. Уровни проводника здесь — станции на линии Москва — Петербург.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880" cy="3428640"/>
          </a:xfrm>
          <a:prstGeom prst="rect">
            <a:avLst/>
          </a:prstGeom>
          <a:ln w="0">
            <a:noFill/>
          </a:ln>
        </p:spPr>
      </p:sp>
      <p:sp>
        <p:nvSpPr>
          <p:cNvPr id="18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(0:00–0:25) Пятница, поезд идёт 300 километров в час. Проводнику приходит голосовое от коллеги: «У меня в третьем вагоне плачет девочка лет пяти, маму потеряла, взрослых рядом нет». На решение 15 секунд. Если замешкаться, девочка уйдёт в тамбур одна.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Такие ситуации не отрепетируешь на живых пассажирах. А решать их придётся.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880" cy="3428640"/>
          </a:xfrm>
          <a:prstGeom prst="rect">
            <a:avLst/>
          </a:prstGeom>
          <a:ln w="0">
            <a:noFill/>
          </a:ln>
        </p:spPr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(0:40–1:00) Кейс ставит четыре проблемы: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лекции и тесты не учат решать под давлением;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нет безопасной среды для отработки;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soft skills трудно измерить;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 постоянному обучению нет мотивации.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Мы закрываем каждую.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880" cy="3428640"/>
          </a:xfrm>
          <a:prstGeom prst="rect">
            <a:avLst/>
          </a:prstGeom>
          <a:ln w="0">
            <a:noFill/>
          </a:ln>
        </p:spPr>
      </p:sp>
      <p:sp>
        <p:nvSpPr>
          <p:cNvPr id="18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(1:00–1:35) Контент мы не выдумывали. Все 51 ситуацию из справочника «Примеры ситуаций взаимодействия поездного персонала с пассажирами» и стандарты СТО РЖД для ВСМ мы собрали в 14 сюжетных рейсов.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Вот рейс «Двое на одном месте». Пассажир занял чужое место, на решение 20 секунд. Если ответить грубо, «освободите немедленно», лояльность падает с 60 до 45, и пассажир грозит жалобой.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Диалог нелинейный: каждое решение ведёт в свою ветку. Таймер не декорация. Если время вышло, срабатывает отдельная ветка с последствиями.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880" cy="342864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(1:35–2:05) Лояльность пассажира и безопасность считаются отдельно, и одно решение влияет на них по-разному. Если безопасность падает до нуля, рейс сразу заканчивается провалом: «Критический инцидент».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После рейса проводник видит разбор каждого решения: что пошло не так, как было правильно и кого звать — начальника поезда, транспортную безопасность или электромеханика. Не просто «верно / неверно».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880" cy="3428640"/>
          </a:xfrm>
          <a:prstGeom prst="rect">
            <a:avLst/>
          </a:prstGeom>
          <a:ln w="0">
            <a:noFill/>
          </a:ln>
        </p:spPr>
      </p:sp>
      <p:sp>
        <p:nvSpPr>
          <p:cNvPr id="19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(2:05–2:30) Руководитель может посреди смены отправить экстренный вызов всем или выбранным сотрудникам. Проводник слушает голосовое и учится воспринимать информацию на слух. Хард-уровень: голосовое на английском от иностранной пассажирки.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Свободный ответ оценивает ИИ-наставник по рубрике из регламента.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880" cy="3428640"/>
          </a:xfrm>
          <a:prstGeom prst="rect">
            <a:avLst/>
          </a:prstGeom>
          <a:ln w="0">
            <a:noFill/>
          </a:ln>
        </p:spPr>
      </p:sp>
      <p:sp>
        <p:nvSpPr>
          <p:cNvPr id="19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(2:30–2:45) Раз в неделю проходит турнир: 10 вопросов по 15 секунд, все отвечают одновременно. Топ-10 получают трофей и 100 очков компетенций.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880" cy="342864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(2:45–3:05) Цикл замкнут: действие → очки → ачивки → рейтинг → мотивация.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- 8 уровней от «Стажёра» до «Легенды магистрали» и 14 ачивок.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Рейтинг по компании, депо и бригаде.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Уведомления, в том числе «недельный рейтинг скоро обнулится».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Следующий рейс система подбирает по слабым местам.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880" cy="342864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(3:05–3:25) Руководитель сразу видит, кому нужна помощь: у кого за месяц просела безопасность, кто давно не тренировался. Есть карточки сотрудников с готовностью к повышению и отчёты для HR в Excel и JSON.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880" cy="3428640"/>
          </a:xfrm>
          <a:prstGeom prst="rect">
            <a:avLst/>
          </a:prstGeom>
          <a:ln w="0">
            <a:noFill/>
          </a:ln>
        </p:spPr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(3:25–3:40) Вопрос можно задать обычными словами, например: «Покажи всех, у кого упал рейтинг безопасности». Ответ строится по живым данным.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880" cy="342864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(3:40–4:00) Инструктор описывает ситуацию своими словами, и ИИ собирает черновик ветвящегося сценария: реплики, таймеры, влияние на шкалы. Система проверяет граф, инструктор правит его в редакторе и публикует. Код трогать не нужно.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880" cy="3428640"/>
          </a:xfrm>
          <a:prstGeom prst="rect">
            <a:avLst/>
          </a:prstGeom>
          <a:ln w="0">
            <a:noFill/>
          </a:ln>
        </p:spPr>
      </p:sp>
      <p:sp>
        <p:nvSpPr>
          <p:cNvPr id="202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(4:00–4:30) Под капотом: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фронтенд на React;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бэкенд на FastAPI;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отдельный ML-сервис на GigaChat, а без ключей работает эвристика;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PostgreSQL и Valkey;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метрики в Prometheus, логи в Loki, дашборды в Grafana.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Весь API описан в Swagger. Проект поднимается одной командой в Docker. В демо только синтетические данные, по 152-ФЗ.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880" cy="3428640"/>
          </a:xfrm>
          <a:prstGeom prst="rect">
            <a:avLst/>
          </a:prstGeom>
          <a:ln w="0">
            <a:noFill/>
          </a:ln>
        </p:spPr>
      </p:sp>
      <p:sp>
        <p:nvSpPr>
          <p:cNvPr id="204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(4:30–4:45) Дальше: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валидация сценариев с экспертами ВСМ;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голосовой ответ с транскрибацией;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командные турниры бригад;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- SSO и интеграция с LMS.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sldImg"/>
          </p:nvPr>
        </p:nvSpPr>
        <p:spPr>
          <a:xfrm>
            <a:off x="381240" y="685800"/>
            <a:ext cx="6095880" cy="3428640"/>
          </a:xfrm>
          <a:prstGeom prst="rect">
            <a:avLst/>
          </a:prstGeom>
          <a:ln w="0">
            <a:noFill/>
          </a:ln>
        </p:spPr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685800" y="434340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91440" rIns="91440" bIns="91440" anchor="t">
            <a:noAutofit/>
          </a:bodyPr>
          <a:p>
            <a:pPr marL="457200" indent="-298440" algn="l">
              <a:lnSpc>
                <a:spcPct val="100000"/>
              </a:lnSpc>
              <a:buClr>
                <a:srgbClr val="000000"/>
              </a:buClr>
              <a:buFont typeface="Wingdings" charset="2"/>
              <a:buChar char=""/>
            </a:pPr>
            <a:r>
              <a:rPr lang="ru-RU" sz="11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(4:45–5:00) Всё, что вы видели, уже работает на vsm-gamification.ru. Отсканируйте QR-код, логины на экране. Спасибо, ждём ваших вопросов.</a:t>
            </a:r>
            <a:endParaRPr lang="ru-RU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7;p2"/>
          <p:cNvPicPr/>
          <p:nvPr/>
        </p:nvPicPr>
        <p:blipFill>
          <a:blip r:embed="rId3"/>
          <a:stretch/>
        </p:blipFill>
        <p:spPr>
          <a:xfrm>
            <a:off x="6869880" y="4501440"/>
            <a:ext cx="1920240" cy="28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">
    <p:bg>
      <p:bgPr>
        <a:solidFill>
          <a:srgbClr val="1A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9;p3"/>
          <p:cNvPicPr/>
          <p:nvPr/>
        </p:nvPicPr>
        <p:blipFill>
          <a:blip r:embed="rId2"/>
          <a:stretch/>
        </p:blipFill>
        <p:spPr>
          <a:xfrm>
            <a:off x="6869880" y="4501440"/>
            <a:ext cx="1920240" cy="28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2">
    <p:bg>
      <p:bgPr>
        <a:solidFill>
          <a:srgbClr val="3F6F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oogle Shape;11;p4"/>
          <p:cNvPicPr/>
          <p:nvPr/>
        </p:nvPicPr>
        <p:blipFill>
          <a:blip r:embed="rId2"/>
          <a:stretch/>
        </p:blipFill>
        <p:spPr>
          <a:xfrm>
            <a:off x="6869880" y="4501440"/>
            <a:ext cx="1920240" cy="28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2_1">
    <p:bg>
      <p:bgPr>
        <a:solidFill>
          <a:srgbClr val="3F6F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1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4;p6"/>
          <p:cNvPicPr/>
          <p:nvPr/>
        </p:nvPicPr>
        <p:blipFill>
          <a:blip r:embed="rId3"/>
          <a:stretch/>
        </p:blipFill>
        <p:spPr>
          <a:xfrm>
            <a:off x="6869880" y="4501440"/>
            <a:ext cx="1920240" cy="28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USTOM_3">
    <p:bg>
      <p:bgPr>
        <a:solidFill>
          <a:srgbClr val="1A12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_1">
    <p:bg>
      <p:bgPr>
        <a:blipFill rotWithShape="0">
          <a:blip r:embed="rId2"/>
          <a:stretch/>
        </a:blip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текста заглавия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Для правки структуры щёлкните мышью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Второй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Третий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ru-RU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Четвёртый уровень структуры</a:t>
            </a:r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Пятый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Шестой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ru-RU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Седьмой уровень структуры</a:t>
            </a:r>
            <a:endParaRPr lang="ru-RU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7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1;p9"/>
          <p:cNvPicPr/>
          <p:nvPr/>
        </p:nvPicPr>
        <p:blipFill>
          <a:blip r:embed="rId1"/>
          <a:stretch/>
        </p:blipFill>
        <p:spPr>
          <a:xfrm>
            <a:off x="6094080" y="453240"/>
            <a:ext cx="2451600" cy="3690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" name="Google Shape;23;p9"/>
          <p:cNvPicPr/>
          <p:nvPr/>
        </p:nvPicPr>
        <p:blipFill>
          <a:blip r:embed="rId2"/>
          <a:stretch/>
        </p:blipFill>
        <p:spPr>
          <a:xfrm>
            <a:off x="632880" y="1066680"/>
            <a:ext cx="7795800" cy="2503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Google Shape;22;p9"/>
          <p:cNvSpPr/>
          <p:nvPr/>
        </p:nvSpPr>
        <p:spPr>
          <a:xfrm>
            <a:off x="868680" y="3730680"/>
            <a:ext cx="7589160" cy="1051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Магистраль 400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ru-RU" sz="13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Тренажёр нештатных ситуаций для проводников ВСМ · команда «Кокаманы»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1"/>
          <p:cNvSpPr/>
          <p:nvPr/>
        </p:nvSpPr>
        <p:spPr>
          <a:xfrm>
            <a:off x="5760720" y="0"/>
            <a:ext cx="3382920" cy="514332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Rectangle 2"/>
          <p:cNvSpPr/>
          <p:nvPr/>
        </p:nvSpPr>
        <p:spPr>
          <a:xfrm>
            <a:off x="5330880" y="4014360"/>
            <a:ext cx="429480" cy="42948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Rectangle 3"/>
          <p:cNvSpPr/>
          <p:nvPr/>
        </p:nvSpPr>
        <p:spPr>
          <a:xfrm>
            <a:off x="4901040" y="3602880"/>
            <a:ext cx="429480" cy="42948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Rectangle 4"/>
          <p:cNvSpPr/>
          <p:nvPr/>
        </p:nvSpPr>
        <p:spPr>
          <a:xfrm>
            <a:off x="4471560" y="4014360"/>
            <a:ext cx="429480" cy="42948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" name="Picture 5" descr="ph_emergency.png"/>
          <p:cNvPicPr/>
          <p:nvPr/>
        </p:nvPicPr>
        <p:blipFill>
          <a:blip r:embed="rId1"/>
          <a:stretch/>
        </p:blipFill>
        <p:spPr>
          <a:xfrm>
            <a:off x="6370200" y="311040"/>
            <a:ext cx="2163960" cy="452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Rounded Rectangle 6"/>
          <p:cNvSpPr/>
          <p:nvPr/>
        </p:nvSpPr>
        <p:spPr>
          <a:xfrm>
            <a:off x="384120" y="502920"/>
            <a:ext cx="2016000" cy="29232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ЭКСТРЕННАЯ СИТУАЦИЯ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extBox 7"/>
          <p:cNvSpPr/>
          <p:nvPr/>
        </p:nvSpPr>
        <p:spPr>
          <a:xfrm>
            <a:off x="384120" y="1005840"/>
            <a:ext cx="4937400" cy="255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3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Потерялся ребёнок.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36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Решать — вам.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800"/>
              </a:spcBef>
            </a:pPr>
            <a:r>
              <a:rPr lang="ru-RU" sz="14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Поезд идёт 300 км/ч. Голосовое из 3-го вагона: девочка лет пяти потеряла маму. На решение — 15 секунд. Проводник ВСМ должен быть к этому готов.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ounded Rectangle 1"/>
          <p:cNvSpPr/>
          <p:nvPr/>
        </p:nvSpPr>
        <p:spPr>
          <a:xfrm>
            <a:off x="384120" y="502920"/>
            <a:ext cx="1407960" cy="29232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ЗАДАЧА КЕЙСА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TextBox 2"/>
          <p:cNvSpPr/>
          <p:nvPr/>
        </p:nvSpPr>
        <p:spPr>
          <a:xfrm>
            <a:off x="384120" y="1005840"/>
            <a:ext cx="3565800" cy="32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Лекции и тесты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не учат решать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за секунды.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800"/>
              </a:spcBef>
            </a:pPr>
            <a:r>
              <a:rPr lang="ru-RU" sz="13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Нужна среда, где проводник отрабатывает нештатные ситуации под таймером и видит последствия каждого решения.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Rounded Rectangle 3"/>
          <p:cNvSpPr/>
          <p:nvPr/>
        </p:nvSpPr>
        <p:spPr>
          <a:xfrm>
            <a:off x="4160520" y="457200"/>
            <a:ext cx="2239920" cy="1828440"/>
          </a:xfrm>
          <a:prstGeom prst="roundRect">
            <a:avLst>
              <a:gd name="adj" fmla="val 8000"/>
            </a:avLst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64520" rIns="164520" bIns="137160" anchor="t">
            <a:noAutofit/>
          </a:bodyPr>
          <a:p>
            <a:pPr>
              <a:lnSpc>
                <a:spcPct val="100000"/>
              </a:lnSpc>
            </a:pPr>
            <a:r>
              <a:rPr lang="ru-RU" sz="1200" b="0" u="none" strike="noStrike">
                <a:solidFill>
                  <a:srgbClr val="1A1230"/>
                </a:solidFill>
                <a:effectLst/>
                <a:uFillTx/>
                <a:latin typeface="Moscow Sans Regular"/>
                <a:ea typeface="Moscow Sans Regular"/>
              </a:rPr>
              <a:t>01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Стресс и дефицит времени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799"/>
              </a:spcBef>
            </a:pPr>
            <a:r>
              <a:rPr lang="ru-RU" sz="11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Классическое обучение не тренирует решения под давлением.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Rounded Rectangle 4"/>
          <p:cNvSpPr/>
          <p:nvPr/>
        </p:nvSpPr>
        <p:spPr>
          <a:xfrm>
            <a:off x="6537960" y="457200"/>
            <a:ext cx="2239920" cy="1828440"/>
          </a:xfrm>
          <a:prstGeom prst="roundRect">
            <a:avLst>
              <a:gd name="adj" fmla="val 8000"/>
            </a:avLst>
          </a:prstGeom>
          <a:solidFill>
            <a:srgbClr val="271D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64520" rIns="164520" bIns="137160" anchor="t">
            <a:noAutofit/>
          </a:bodyPr>
          <a:p>
            <a:pPr>
              <a:lnSpc>
                <a:spcPct val="100000"/>
              </a:lnSpc>
            </a:pPr>
            <a:r>
              <a:rPr lang="ru-RU" sz="12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02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Нет безопасной среды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799"/>
              </a:spcBef>
            </a:pPr>
            <a:r>
              <a:rPr lang="ru-RU" sz="11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Нештатную ситуацию не отрепетируешь на живых пассажирах.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Rounded Rectangle 5"/>
          <p:cNvSpPr/>
          <p:nvPr/>
        </p:nvSpPr>
        <p:spPr>
          <a:xfrm>
            <a:off x="4160520" y="2423160"/>
            <a:ext cx="2239920" cy="1828440"/>
          </a:xfrm>
          <a:prstGeom prst="roundRect">
            <a:avLst>
              <a:gd name="adj" fmla="val 8000"/>
            </a:avLst>
          </a:prstGeom>
          <a:solidFill>
            <a:srgbClr val="271D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64520" rIns="164520" bIns="137160" anchor="t">
            <a:noAutofit/>
          </a:bodyPr>
          <a:p>
            <a:pPr>
              <a:lnSpc>
                <a:spcPct val="100000"/>
              </a:lnSpc>
            </a:pPr>
            <a:r>
              <a:rPr lang="ru-RU" sz="12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03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Soft skills сложно оценить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799"/>
              </a:spcBef>
            </a:pPr>
            <a:r>
              <a:rPr lang="ru-RU" sz="11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Как объективно измерить, что проводник поступил правильно?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Rounded Rectangle 6"/>
          <p:cNvSpPr/>
          <p:nvPr/>
        </p:nvSpPr>
        <p:spPr>
          <a:xfrm>
            <a:off x="6537960" y="2423160"/>
            <a:ext cx="2239920" cy="1828440"/>
          </a:xfrm>
          <a:prstGeom prst="roundRect">
            <a:avLst>
              <a:gd name="adj" fmla="val 8000"/>
            </a:avLst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64520" rIns="164520" bIns="137160" anchor="t">
            <a:noAutofit/>
          </a:bodyPr>
          <a:p>
            <a:pPr>
              <a:lnSpc>
                <a:spcPct val="100000"/>
              </a:lnSpc>
            </a:pPr>
            <a:r>
              <a:rPr lang="ru-RU" sz="1200" b="0" u="none" strike="noStrike">
                <a:solidFill>
                  <a:srgbClr val="1A1230"/>
                </a:solidFill>
                <a:effectLst/>
                <a:uFillTx/>
                <a:latin typeface="Moscow Sans Regular"/>
                <a:ea typeface="Moscow Sans Regular"/>
              </a:rPr>
              <a:t>04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Низкая мотивация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799"/>
              </a:spcBef>
            </a:pPr>
            <a:r>
              <a:rPr lang="ru-RU" sz="11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Постоянное развитие без азарта превращается в обязаловку.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Rectangle 1"/>
          <p:cNvSpPr/>
          <p:nvPr/>
        </p:nvSpPr>
        <p:spPr>
          <a:xfrm>
            <a:off x="5074920" y="0"/>
            <a:ext cx="4068720" cy="514332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" name="Rectangle 2"/>
          <p:cNvSpPr/>
          <p:nvPr/>
        </p:nvSpPr>
        <p:spPr>
          <a:xfrm>
            <a:off x="4645080" y="4014360"/>
            <a:ext cx="429480" cy="42948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Rectangle 3"/>
          <p:cNvSpPr/>
          <p:nvPr/>
        </p:nvSpPr>
        <p:spPr>
          <a:xfrm>
            <a:off x="4215240" y="3602880"/>
            <a:ext cx="429480" cy="42948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" name="Picture 4" descr="ph_choice.png"/>
          <p:cNvPicPr/>
          <p:nvPr/>
        </p:nvPicPr>
        <p:blipFill>
          <a:blip r:embed="rId1"/>
          <a:stretch/>
        </p:blipFill>
        <p:spPr>
          <a:xfrm>
            <a:off x="5095080" y="530280"/>
            <a:ext cx="1945440" cy="4068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42" name="Picture 5" descr="ph_feedback.png"/>
          <p:cNvPicPr/>
          <p:nvPr/>
        </p:nvPicPr>
        <p:blipFill>
          <a:blip r:embed="rId2"/>
          <a:stretch/>
        </p:blipFill>
        <p:spPr>
          <a:xfrm>
            <a:off x="7178040" y="530280"/>
            <a:ext cx="1945440" cy="4068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Rounded Rectangle 6"/>
          <p:cNvSpPr/>
          <p:nvPr/>
        </p:nvSpPr>
        <p:spPr>
          <a:xfrm>
            <a:off x="384120" y="502920"/>
            <a:ext cx="2624040" cy="29232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РЕЙС «ДВОЕ НА ОДНОМ МЕСТЕ»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Box 7"/>
          <p:cNvSpPr/>
          <p:nvPr/>
        </p:nvSpPr>
        <p:spPr>
          <a:xfrm>
            <a:off x="384120" y="1005840"/>
            <a:ext cx="36572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34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Решение —</a:t>
            </a:r>
            <a:endParaRPr lang="ru-RU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34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под таймером.</a:t>
            </a:r>
            <a:endParaRPr lang="ru-RU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599"/>
              </a:spcBef>
            </a:pPr>
            <a:r>
              <a:rPr lang="ru-RU" sz="13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Нелинейный диалог: каждое решение ведёт в свою ветку. Истекло время — срабатывает ветка с последствиями.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15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Таймер 10–25 с </a:t>
            </a:r>
            <a:r>
              <a:rPr lang="ru-RU" sz="13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на критическое решение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7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Ошибка: пассажир 60 → 45 </a:t>
            </a:r>
            <a:r>
              <a:rPr lang="ru-RU" sz="13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и грозит жалобой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1"/>
          <p:cNvSpPr/>
          <p:nvPr/>
        </p:nvSpPr>
        <p:spPr>
          <a:xfrm>
            <a:off x="5961960" y="219600"/>
            <a:ext cx="2971440" cy="3995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Rectangle 2"/>
          <p:cNvSpPr/>
          <p:nvPr/>
        </p:nvSpPr>
        <p:spPr>
          <a:xfrm>
            <a:off x="5532120" y="4215240"/>
            <a:ext cx="429480" cy="4294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Rectangle 3"/>
          <p:cNvSpPr/>
          <p:nvPr/>
        </p:nvSpPr>
        <p:spPr>
          <a:xfrm>
            <a:off x="5102280" y="3813120"/>
            <a:ext cx="429480" cy="42948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48" name="Picture 4" descr="ph_end.png"/>
          <p:cNvPicPr/>
          <p:nvPr/>
        </p:nvPicPr>
        <p:blipFill>
          <a:blip r:embed="rId1"/>
          <a:stretch/>
        </p:blipFill>
        <p:spPr>
          <a:xfrm>
            <a:off x="6540480" y="320040"/>
            <a:ext cx="1814040" cy="3794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" name="Rounded Rectangle 5"/>
          <p:cNvSpPr/>
          <p:nvPr/>
        </p:nvSpPr>
        <p:spPr>
          <a:xfrm>
            <a:off x="384120" y="502920"/>
            <a:ext cx="1494720" cy="292320"/>
          </a:xfrm>
          <a:prstGeom prst="roundRect">
            <a:avLst>
              <a:gd name="adj" fmla="val 50000"/>
            </a:avLst>
          </a:prstGeom>
          <a:noFill/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ДВОЙНАЯ ШКАЛА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TextBox 6"/>
          <p:cNvSpPr/>
          <p:nvPr/>
        </p:nvSpPr>
        <p:spPr>
          <a:xfrm>
            <a:off x="384120" y="1005840"/>
            <a:ext cx="493740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Лояльность пассажира</a:t>
            </a:r>
            <a:endParaRPr lang="ru-R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и безопасность.</a:t>
            </a:r>
            <a:endParaRPr lang="ru-R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Box 7"/>
          <p:cNvSpPr/>
          <p:nvPr/>
        </p:nvSpPr>
        <p:spPr>
          <a:xfrm>
            <a:off x="384120" y="2103120"/>
            <a:ext cx="4096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Лояльность пассажира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Box 8"/>
          <p:cNvSpPr/>
          <p:nvPr/>
        </p:nvSpPr>
        <p:spPr>
          <a:xfrm>
            <a:off x="3566160" y="210312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r">
              <a:lnSpc>
                <a:spcPct val="100000"/>
              </a:lnSpc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85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Rounded Rectangle 9"/>
          <p:cNvSpPr/>
          <p:nvPr/>
        </p:nvSpPr>
        <p:spPr>
          <a:xfrm>
            <a:off x="384120" y="2432160"/>
            <a:ext cx="4096080" cy="91080"/>
          </a:xfrm>
          <a:prstGeom prst="roundRect">
            <a:avLst>
              <a:gd name="adj" fmla="val 50000"/>
            </a:avLst>
          </a:prstGeom>
          <a:solidFill>
            <a:srgbClr val="2E58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32040" rIns="182880" bIns="3204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Rounded Rectangle 10"/>
          <p:cNvSpPr/>
          <p:nvPr/>
        </p:nvSpPr>
        <p:spPr>
          <a:xfrm>
            <a:off x="384120" y="2432160"/>
            <a:ext cx="3481560" cy="910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32040" rIns="182880" bIns="320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TextBox 11"/>
          <p:cNvSpPr/>
          <p:nvPr/>
        </p:nvSpPr>
        <p:spPr>
          <a:xfrm>
            <a:off x="384120" y="2670120"/>
            <a:ext cx="409608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Рейтинг безопасности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Box 12"/>
          <p:cNvSpPr/>
          <p:nvPr/>
        </p:nvSpPr>
        <p:spPr>
          <a:xfrm>
            <a:off x="3566160" y="2670120"/>
            <a:ext cx="9140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r">
              <a:lnSpc>
                <a:spcPct val="100000"/>
              </a:lnSpc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85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Rounded Rectangle 13"/>
          <p:cNvSpPr/>
          <p:nvPr/>
        </p:nvSpPr>
        <p:spPr>
          <a:xfrm>
            <a:off x="384120" y="2999160"/>
            <a:ext cx="4096080" cy="91080"/>
          </a:xfrm>
          <a:prstGeom prst="roundRect">
            <a:avLst>
              <a:gd name="adj" fmla="val 50000"/>
            </a:avLst>
          </a:prstGeom>
          <a:solidFill>
            <a:srgbClr val="2E58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32040" rIns="182880" bIns="3204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Rounded Rectangle 14"/>
          <p:cNvSpPr/>
          <p:nvPr/>
        </p:nvSpPr>
        <p:spPr>
          <a:xfrm>
            <a:off x="384120" y="2999160"/>
            <a:ext cx="3481560" cy="91080"/>
          </a:xfrm>
          <a:prstGeom prst="roundRect">
            <a:avLst>
              <a:gd name="adj" fmla="val 50000"/>
            </a:avLst>
          </a:prstGeom>
          <a:solidFill>
            <a:srgbClr val="9FC5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32040" rIns="182880" bIns="320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TextBox 15"/>
          <p:cNvSpPr/>
          <p:nvPr/>
        </p:nvSpPr>
        <p:spPr>
          <a:xfrm>
            <a:off x="384120" y="3291840"/>
            <a:ext cx="50288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После рейса — разбор каждого решения: что пошло не так, как было правильно и кого звать. Не просто «верно / неверно».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9"/>
              </a:spcBef>
            </a:pPr>
            <a:r>
              <a:rPr lang="ru-RU" sz="2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+142 </a:t>
            </a:r>
            <a:r>
              <a:rPr lang="ru-RU" sz="12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очка компетенций за рейс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Rounded Rectangle 1"/>
          <p:cNvSpPr/>
          <p:nvPr/>
        </p:nvSpPr>
        <p:spPr>
          <a:xfrm>
            <a:off x="384120" y="502920"/>
            <a:ext cx="1147320" cy="29232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СПЕЦИВЕНТ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2"/>
          <p:cNvSpPr/>
          <p:nvPr/>
        </p:nvSpPr>
        <p:spPr>
          <a:xfrm>
            <a:off x="384120" y="1005840"/>
            <a:ext cx="4114440" cy="3474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Посреди смены —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внезапный вызов.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1800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Голосовое сообщение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— учимся воспринимать информацию на слух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7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Хард-уровень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— голосовое на английском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7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Свободный ответ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оценивает ИИ-наставник по регламенту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7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Руководитель запускает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для всех или выбранных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Rounded Rectangle 3"/>
          <p:cNvSpPr/>
          <p:nvPr/>
        </p:nvSpPr>
        <p:spPr>
          <a:xfrm>
            <a:off x="4846320" y="502920"/>
            <a:ext cx="3931560" cy="1645560"/>
          </a:xfrm>
          <a:prstGeom prst="roundRect">
            <a:avLst>
              <a:gd name="adj" fmla="val 8000"/>
            </a:avLst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tIns="182880" rIns="182880" bIns="91440" anchor="t">
            <a:noAutofit/>
          </a:bodyPr>
          <a:p>
            <a:pPr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ВЫЗОВ ОТ РУКОВОДИТЕЛЯ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ru-RU" sz="1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Hard: голосовое на английском</a:t>
            </a:r>
            <a:endParaRPr lang="ru-RU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Rounded Rectangle 4"/>
          <p:cNvSpPr/>
          <p:nvPr/>
        </p:nvSpPr>
        <p:spPr>
          <a:xfrm>
            <a:off x="5074920" y="1508760"/>
            <a:ext cx="3474360" cy="456840"/>
          </a:xfrm>
          <a:prstGeom prst="roundRect">
            <a:avLst>
              <a:gd name="adj" fmla="val 50000"/>
            </a:avLst>
          </a:prstGeom>
          <a:solidFill>
            <a:srgbClr val="2E58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4" name="Oval 5"/>
          <p:cNvSpPr/>
          <p:nvPr/>
        </p:nvSpPr>
        <p:spPr>
          <a:xfrm>
            <a:off x="5129640" y="1554480"/>
            <a:ext cx="365400" cy="365400"/>
          </a:xfrm>
          <a:prstGeom prst="ellipse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29240" rIns="182880" bIns="1292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Isosceles Triangle 6"/>
          <p:cNvSpPr/>
          <p:nvPr/>
        </p:nvSpPr>
        <p:spPr>
          <a:xfrm rot="5400000">
            <a:off x="5258160" y="1645920"/>
            <a:ext cx="145800" cy="182520"/>
          </a:xfrm>
          <a:prstGeom prst="triangle">
            <a:avLst>
              <a:gd name="adj" fmla="val 50000"/>
            </a:avLst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ru-RU" sz="1400" b="0" u="none" strike="noStrike">
              <a:solidFill>
                <a:schemeClr val="lt1"/>
              </a:solidFill>
              <a:effectLst/>
              <a:uFillTx/>
              <a:latin typeface="Arial"/>
            </a:endParaRPr>
          </a:p>
        </p:txBody>
      </p:sp>
      <p:sp>
        <p:nvSpPr>
          <p:cNvPr id="66" name="Rounded Rectangle 7"/>
          <p:cNvSpPr/>
          <p:nvPr/>
        </p:nvSpPr>
        <p:spPr>
          <a:xfrm>
            <a:off x="5669280" y="1636920"/>
            <a:ext cx="45360" cy="200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93960" rIns="22680" bIns="939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Rounded Rectangle 8"/>
          <p:cNvSpPr/>
          <p:nvPr/>
        </p:nvSpPr>
        <p:spPr>
          <a:xfrm>
            <a:off x="5767200" y="1680840"/>
            <a:ext cx="45360" cy="1130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50040" rIns="22680" bIns="500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Rounded Rectangle 9"/>
          <p:cNvSpPr/>
          <p:nvPr/>
        </p:nvSpPr>
        <p:spPr>
          <a:xfrm>
            <a:off x="5865120" y="1680840"/>
            <a:ext cx="45360" cy="1130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50040" rIns="22680" bIns="500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Rounded Rectangle 10"/>
          <p:cNvSpPr/>
          <p:nvPr/>
        </p:nvSpPr>
        <p:spPr>
          <a:xfrm>
            <a:off x="5962680" y="1636920"/>
            <a:ext cx="45360" cy="200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93960" rIns="22680" bIns="939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Rounded Rectangle 11"/>
          <p:cNvSpPr/>
          <p:nvPr/>
        </p:nvSpPr>
        <p:spPr>
          <a:xfrm>
            <a:off x="6060600" y="1695240"/>
            <a:ext cx="45360" cy="83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35280" rIns="22680" bIns="352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Rounded Rectangle 12"/>
          <p:cNvSpPr/>
          <p:nvPr/>
        </p:nvSpPr>
        <p:spPr>
          <a:xfrm>
            <a:off x="6158520" y="1666080"/>
            <a:ext cx="45360" cy="142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64440" rIns="22680" bIns="644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ounded Rectangle 13"/>
          <p:cNvSpPr/>
          <p:nvPr/>
        </p:nvSpPr>
        <p:spPr>
          <a:xfrm>
            <a:off x="6256440" y="1651320"/>
            <a:ext cx="45360" cy="1717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9200" rIns="22680" bIns="7920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Rounded Rectangle 14"/>
          <p:cNvSpPr/>
          <p:nvPr/>
        </p:nvSpPr>
        <p:spPr>
          <a:xfrm>
            <a:off x="6354000" y="1710000"/>
            <a:ext cx="45360" cy="5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20520" rIns="22680" bIns="2052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Rounded Rectangle 15"/>
          <p:cNvSpPr/>
          <p:nvPr/>
        </p:nvSpPr>
        <p:spPr>
          <a:xfrm>
            <a:off x="6451920" y="1651320"/>
            <a:ext cx="45360" cy="1717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9200" rIns="22680" bIns="7920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Rounded Rectangle 16"/>
          <p:cNvSpPr/>
          <p:nvPr/>
        </p:nvSpPr>
        <p:spPr>
          <a:xfrm>
            <a:off x="6549840" y="1666080"/>
            <a:ext cx="45360" cy="142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64440" rIns="22680" bIns="644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Rounded Rectangle 17"/>
          <p:cNvSpPr/>
          <p:nvPr/>
        </p:nvSpPr>
        <p:spPr>
          <a:xfrm>
            <a:off x="6647760" y="1695240"/>
            <a:ext cx="45360" cy="83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35280" rIns="22680" bIns="352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Rounded Rectangle 18"/>
          <p:cNvSpPr/>
          <p:nvPr/>
        </p:nvSpPr>
        <p:spPr>
          <a:xfrm>
            <a:off x="6745680" y="1636920"/>
            <a:ext cx="45360" cy="200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93960" rIns="22680" bIns="939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Rounded Rectangle 19"/>
          <p:cNvSpPr/>
          <p:nvPr/>
        </p:nvSpPr>
        <p:spPr>
          <a:xfrm>
            <a:off x="6843240" y="1680840"/>
            <a:ext cx="45360" cy="1130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50040" rIns="22680" bIns="500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Rounded Rectangle 20"/>
          <p:cNvSpPr/>
          <p:nvPr/>
        </p:nvSpPr>
        <p:spPr>
          <a:xfrm>
            <a:off x="6941160" y="1680840"/>
            <a:ext cx="45360" cy="1130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50040" rIns="22680" bIns="500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Rounded Rectangle 21"/>
          <p:cNvSpPr/>
          <p:nvPr/>
        </p:nvSpPr>
        <p:spPr>
          <a:xfrm>
            <a:off x="7039080" y="1636920"/>
            <a:ext cx="45360" cy="200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93960" rIns="22680" bIns="939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Rounded Rectangle 22"/>
          <p:cNvSpPr/>
          <p:nvPr/>
        </p:nvSpPr>
        <p:spPr>
          <a:xfrm>
            <a:off x="7137000" y="1695240"/>
            <a:ext cx="45360" cy="83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35280" rIns="22680" bIns="352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Rounded Rectangle 23"/>
          <p:cNvSpPr/>
          <p:nvPr/>
        </p:nvSpPr>
        <p:spPr>
          <a:xfrm>
            <a:off x="7234560" y="1666080"/>
            <a:ext cx="45360" cy="142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64440" rIns="22680" bIns="644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Rounded Rectangle 24"/>
          <p:cNvSpPr/>
          <p:nvPr/>
        </p:nvSpPr>
        <p:spPr>
          <a:xfrm>
            <a:off x="7332480" y="1651320"/>
            <a:ext cx="45360" cy="1717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9200" rIns="22680" bIns="7920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Rounded Rectangle 25"/>
          <p:cNvSpPr/>
          <p:nvPr/>
        </p:nvSpPr>
        <p:spPr>
          <a:xfrm>
            <a:off x="7430400" y="1710000"/>
            <a:ext cx="45360" cy="543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20520" rIns="22680" bIns="2052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Rounded Rectangle 26"/>
          <p:cNvSpPr/>
          <p:nvPr/>
        </p:nvSpPr>
        <p:spPr>
          <a:xfrm>
            <a:off x="7528320" y="1651320"/>
            <a:ext cx="45360" cy="17172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79200" rIns="22680" bIns="7920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Rounded Rectangle 27"/>
          <p:cNvSpPr/>
          <p:nvPr/>
        </p:nvSpPr>
        <p:spPr>
          <a:xfrm>
            <a:off x="7626240" y="1666080"/>
            <a:ext cx="45360" cy="142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64440" rIns="22680" bIns="644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Rounded Rectangle 28"/>
          <p:cNvSpPr/>
          <p:nvPr/>
        </p:nvSpPr>
        <p:spPr>
          <a:xfrm>
            <a:off x="7723800" y="1695240"/>
            <a:ext cx="45360" cy="83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35280" rIns="22680" bIns="352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Rounded Rectangle 29"/>
          <p:cNvSpPr/>
          <p:nvPr/>
        </p:nvSpPr>
        <p:spPr>
          <a:xfrm>
            <a:off x="7821720" y="1636920"/>
            <a:ext cx="45360" cy="200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93960" rIns="22680" bIns="939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30"/>
          <p:cNvSpPr/>
          <p:nvPr/>
        </p:nvSpPr>
        <p:spPr>
          <a:xfrm>
            <a:off x="7919640" y="1680840"/>
            <a:ext cx="45360" cy="1130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50040" rIns="22680" bIns="500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Rounded Rectangle 31"/>
          <p:cNvSpPr/>
          <p:nvPr/>
        </p:nvSpPr>
        <p:spPr>
          <a:xfrm>
            <a:off x="8017560" y="1680840"/>
            <a:ext cx="45360" cy="11304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50040" rIns="22680" bIns="500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Rounded Rectangle 32"/>
          <p:cNvSpPr/>
          <p:nvPr/>
        </p:nvSpPr>
        <p:spPr>
          <a:xfrm>
            <a:off x="8115480" y="1636920"/>
            <a:ext cx="45360" cy="200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93960" rIns="22680" bIns="939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Rounded Rectangle 33"/>
          <p:cNvSpPr/>
          <p:nvPr/>
        </p:nvSpPr>
        <p:spPr>
          <a:xfrm>
            <a:off x="8213040" y="1695240"/>
            <a:ext cx="45360" cy="8388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35280" rIns="22680" bIns="352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Rounded Rectangle 34"/>
          <p:cNvSpPr/>
          <p:nvPr/>
        </p:nvSpPr>
        <p:spPr>
          <a:xfrm>
            <a:off x="8310960" y="1666080"/>
            <a:ext cx="45360" cy="142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680" tIns="64440" rIns="22680" bIns="6444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ounded Rectangle 35"/>
          <p:cNvSpPr/>
          <p:nvPr/>
        </p:nvSpPr>
        <p:spPr>
          <a:xfrm>
            <a:off x="4846320" y="2331720"/>
            <a:ext cx="3931560" cy="15998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228600" tIns="182880" rIns="228600" bIns="137160" anchor="t">
            <a:noAutofit/>
          </a:bodyPr>
          <a:p>
            <a:pPr>
              <a:lnSpc>
                <a:spcPct val="100000"/>
              </a:lnSpc>
            </a:pPr>
            <a:r>
              <a:rPr lang="ru-RU" sz="900" b="0" u="none" strike="noStrike">
                <a:solidFill>
                  <a:srgbClr val="5B6673"/>
                </a:solidFill>
                <a:effectLst/>
                <a:uFillTx/>
                <a:latin typeface="Moscow Sans Regular"/>
                <a:ea typeface="Moscow Sans Regular"/>
              </a:rPr>
              <a:t>ВАШ ОТВЕТ</a:t>
            </a:r>
            <a:endParaRPr lang="ru-RU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601"/>
              </a:spcBef>
            </a:pPr>
            <a:r>
              <a:rPr lang="ru-RU" sz="1200" b="0" u="none" strike="noStrike">
                <a:solidFill>
                  <a:srgbClr val="1A1230"/>
                </a:solidFill>
                <a:effectLst/>
                <a:uFillTx/>
                <a:latin typeface="Moscow Sans Regular"/>
                <a:ea typeface="Moscow Sans Regular"/>
              </a:rPr>
              <a:t>Please stay calm, I am here to help. I'm sorry, we can't give medicine, but the train manager is coming and we will find a doctor.</a:t>
            </a:r>
            <a:endParaRPr lang="ru-RU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Rectangle 1"/>
          <p:cNvSpPr/>
          <p:nvPr/>
        </p:nvSpPr>
        <p:spPr>
          <a:xfrm>
            <a:off x="8357760" y="320040"/>
            <a:ext cx="429480" cy="42948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Rounded Rectangle 2"/>
          <p:cNvSpPr/>
          <p:nvPr/>
        </p:nvSpPr>
        <p:spPr>
          <a:xfrm>
            <a:off x="384120" y="502920"/>
            <a:ext cx="1407960" cy="29232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РАЗ В НЕДЕЛЮ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7" name="TextBox 3"/>
          <p:cNvSpPr/>
          <p:nvPr/>
        </p:nvSpPr>
        <p:spPr>
          <a:xfrm>
            <a:off x="384120" y="1005840"/>
            <a:ext cx="457164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3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Турнир недели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400"/>
              </a:spcBef>
            </a:pPr>
            <a:r>
              <a:rPr lang="ru-RU" sz="14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Все заходят одновременно и отвечают на время. Решают точность и скорость.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4"/>
          <p:cNvSpPr/>
          <p:nvPr/>
        </p:nvSpPr>
        <p:spPr>
          <a:xfrm>
            <a:off x="384120" y="2834640"/>
            <a:ext cx="100548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34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10</a:t>
            </a:r>
            <a:endParaRPr lang="ru-RU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ru-RU" sz="11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вопросов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5"/>
          <p:cNvSpPr/>
          <p:nvPr/>
        </p:nvSpPr>
        <p:spPr>
          <a:xfrm>
            <a:off x="1508760" y="2834640"/>
            <a:ext cx="11883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34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15 с</a:t>
            </a:r>
            <a:endParaRPr lang="ru-RU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ru-RU" sz="11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на ответ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6"/>
          <p:cNvSpPr/>
          <p:nvPr/>
        </p:nvSpPr>
        <p:spPr>
          <a:xfrm>
            <a:off x="2834640" y="2834640"/>
            <a:ext cx="21027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34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Топ-10</a:t>
            </a:r>
            <a:endParaRPr lang="ru-RU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201"/>
              </a:spcBef>
            </a:pPr>
            <a:r>
              <a:rPr lang="ru-RU" sz="11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трофей и +100 очков компетенций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1" name="Picture 7" descr="ph_tournament.png"/>
          <p:cNvPicPr/>
          <p:nvPr/>
        </p:nvPicPr>
        <p:blipFill>
          <a:blip r:embed="rId1"/>
          <a:stretch/>
        </p:blipFill>
        <p:spPr>
          <a:xfrm>
            <a:off x="5669280" y="502920"/>
            <a:ext cx="1857960" cy="3885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ounded Rectangle 1"/>
          <p:cNvSpPr/>
          <p:nvPr/>
        </p:nvSpPr>
        <p:spPr>
          <a:xfrm>
            <a:off x="384120" y="502920"/>
            <a:ext cx="1842120" cy="29232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ПРОФИЛЬ И РЕЙТИНГ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2"/>
          <p:cNvSpPr/>
          <p:nvPr/>
        </p:nvSpPr>
        <p:spPr>
          <a:xfrm>
            <a:off x="384120" y="1005840"/>
            <a:ext cx="4434480" cy="342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Прогресс виден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каждый день.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15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8 уровней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— от «Стажёра» до «Легенды магистрали»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7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14 ачивок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и турнирные трофеи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7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Рейтинг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по компании, депо и бригаде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7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Адаптивная сложность: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следующий рейс — по слабым местам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799"/>
              </a:spcBef>
              <a:buClr>
                <a:srgbClr val="3F6FD1"/>
              </a:buClr>
              <a:buSzPct val="70000"/>
              <a:buFont typeface="Arial"/>
              <a:buChar char="■"/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Уведомления: </a:t>
            </a: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новые сценарии, турнир, «рейтинг скоро обнулится»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4" name="Picture 3" descr="ph_leaderboard.png"/>
          <p:cNvPicPr/>
          <p:nvPr/>
        </p:nvPicPr>
        <p:blipFill>
          <a:blip r:embed="rId1"/>
          <a:stretch/>
        </p:blipFill>
        <p:spPr>
          <a:xfrm>
            <a:off x="5074920" y="411480"/>
            <a:ext cx="1792440" cy="37486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05" name="Picture 4" descr="ph_profile.png"/>
          <p:cNvPicPr/>
          <p:nvPr/>
        </p:nvPicPr>
        <p:blipFill>
          <a:blip r:embed="rId2"/>
          <a:stretch/>
        </p:blipFill>
        <p:spPr>
          <a:xfrm>
            <a:off x="7004880" y="411480"/>
            <a:ext cx="1792440" cy="3748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" name="Picture 1" descr="br_employees.png"/>
          <p:cNvPicPr/>
          <p:nvPr/>
        </p:nvPicPr>
        <p:blipFill>
          <a:blip r:embed="rId1"/>
          <a:stretch/>
        </p:blipFill>
        <p:spPr>
          <a:xfrm>
            <a:off x="384120" y="502920"/>
            <a:ext cx="5577480" cy="3681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7" name="Rounded Rectangle 2"/>
          <p:cNvSpPr/>
          <p:nvPr/>
        </p:nvSpPr>
        <p:spPr>
          <a:xfrm>
            <a:off x="1535760" y="1604520"/>
            <a:ext cx="4266720" cy="250560"/>
          </a:xfrm>
          <a:prstGeom prst="roundRect">
            <a:avLst>
              <a:gd name="adj" fmla="val 20000"/>
            </a:avLst>
          </a:prstGeom>
          <a:noFill/>
          <a:ln w="28575"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10880" rIns="182880" bIns="11088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Rounded Rectangle 4"/>
          <p:cNvSpPr/>
          <p:nvPr/>
        </p:nvSpPr>
        <p:spPr>
          <a:xfrm>
            <a:off x="6263640" y="502920"/>
            <a:ext cx="1842120" cy="29232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РУКОВОДИТЕЛЬ И HR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Box 5"/>
          <p:cNvSpPr/>
          <p:nvPr/>
        </p:nvSpPr>
        <p:spPr>
          <a:xfrm>
            <a:off x="6263640" y="1005840"/>
            <a:ext cx="255996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Видно,</a:t>
            </a:r>
            <a:endParaRPr lang="ru-R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кому нужна</a:t>
            </a:r>
            <a:endParaRPr lang="ru-R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помощь.</a:t>
            </a:r>
            <a:endParaRPr lang="ru-R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599"/>
              </a:spcBef>
            </a:pPr>
            <a:r>
              <a:rPr lang="ru-RU" sz="12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Дашборд активности, частые ошибки, карточки сотрудников и готовность к повышению. Отчёты для HR — в Excel и JSON.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ounded Rectangle 1"/>
          <p:cNvSpPr/>
          <p:nvPr/>
        </p:nvSpPr>
        <p:spPr>
          <a:xfrm>
            <a:off x="384120" y="502920"/>
            <a:ext cx="1407960" cy="29232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ИИ-АССИСТЕНТ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Box 2"/>
          <p:cNvSpPr/>
          <p:nvPr/>
        </p:nvSpPr>
        <p:spPr>
          <a:xfrm>
            <a:off x="384120" y="1005840"/>
            <a:ext cx="3108600" cy="1737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Спросите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обычными словами.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Rounded Rectangle 3"/>
          <p:cNvSpPr/>
          <p:nvPr/>
        </p:nvSpPr>
        <p:spPr>
          <a:xfrm>
            <a:off x="384120" y="2788920"/>
            <a:ext cx="3017160" cy="109692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09800" rIns="182880" bIns="109800" anchor="ctr">
            <a:noAutofit/>
          </a:bodyPr>
          <a:p>
            <a:pPr>
              <a:lnSpc>
                <a:spcPct val="100000"/>
              </a:lnSpc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«Покажи всех проводников, у кого упал рейтинг безопасности за месяц»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3" name="Picture 4" descr="br_assistant.png"/>
          <p:cNvPicPr/>
          <p:nvPr/>
        </p:nvPicPr>
        <p:blipFill>
          <a:blip r:embed="rId1"/>
          <a:stretch/>
        </p:blipFill>
        <p:spPr>
          <a:xfrm>
            <a:off x="3703320" y="502920"/>
            <a:ext cx="5074560" cy="3349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TextBox 5"/>
          <p:cNvSpPr/>
          <p:nvPr/>
        </p:nvSpPr>
        <p:spPr>
          <a:xfrm>
            <a:off x="3703320" y="3989520"/>
            <a:ext cx="507456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Ответ строится по текущим данным · GigaChat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5" name="Picture 1" descr="br_generator.png"/>
          <p:cNvPicPr/>
          <p:nvPr/>
        </p:nvPicPr>
        <p:blipFill>
          <a:blip r:embed="rId1"/>
          <a:stretch/>
        </p:blipFill>
        <p:spPr>
          <a:xfrm>
            <a:off x="384120" y="384120"/>
            <a:ext cx="5257440" cy="3837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Rounded Rectangle 2"/>
          <p:cNvSpPr/>
          <p:nvPr/>
        </p:nvSpPr>
        <p:spPr>
          <a:xfrm>
            <a:off x="6035040" y="502920"/>
            <a:ext cx="1407960" cy="292320"/>
          </a:xfrm>
          <a:prstGeom prst="roundRect">
            <a:avLst>
              <a:gd name="adj" fmla="val 50000"/>
            </a:avLst>
          </a:prstGeom>
          <a:noFill/>
          <a:ln>
            <a:solidFill>
              <a:srgbClr val="FFFFFF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ГЕНЕРАЦИЯ ИИ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3"/>
          <p:cNvSpPr/>
          <p:nvPr/>
        </p:nvSpPr>
        <p:spPr>
          <a:xfrm>
            <a:off x="6035040" y="1005840"/>
            <a:ext cx="2742840" cy="338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Сценарий</a:t>
            </a:r>
            <a:endParaRPr lang="ru-R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из ТЗ</a:t>
            </a:r>
            <a:endParaRPr lang="ru-R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2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инструктора.</a:t>
            </a:r>
            <a:endParaRPr lang="ru-RU" sz="2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599"/>
              </a:spcBef>
            </a:pPr>
            <a:r>
              <a:rPr lang="ru-RU" sz="1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ИИ собирает черновик ветвящегося сценария: реплики, варианты ответа, таймеры и влияние на шкалы. Инструктор правит его в редакторе графа и публикует — без правки кода.</a:t>
            </a:r>
            <a:endParaRPr lang="ru-RU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Box 1"/>
          <p:cNvSpPr/>
          <p:nvPr/>
        </p:nvSpPr>
        <p:spPr>
          <a:xfrm>
            <a:off x="384120" y="274320"/>
            <a:ext cx="82292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28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Модульно, с открытым API.</a:t>
            </a:r>
            <a:endParaRPr lang="ru-RU" sz="2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Box 2"/>
          <p:cNvSpPr/>
          <p:nvPr/>
        </p:nvSpPr>
        <p:spPr>
          <a:xfrm>
            <a:off x="384120" y="1005840"/>
            <a:ext cx="13712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ВХОД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0" name="Rounded Rectangle 3"/>
          <p:cNvSpPr/>
          <p:nvPr/>
        </p:nvSpPr>
        <p:spPr>
          <a:xfrm>
            <a:off x="1828800" y="1005840"/>
            <a:ext cx="3410280" cy="62136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Web view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браузер или встраивание в приложение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1" name="Rounded Rectangle 4"/>
          <p:cNvSpPr/>
          <p:nvPr/>
        </p:nvSpPr>
        <p:spPr>
          <a:xfrm>
            <a:off x="1956960" y="1143000"/>
            <a:ext cx="347040" cy="34704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520" tIns="137160" rIns="17352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2" name="Picture 5" descr="devices.png"/>
          <p:cNvPicPr/>
          <p:nvPr/>
        </p:nvPicPr>
        <p:blipFill>
          <a:blip r:embed="rId1"/>
          <a:stretch/>
        </p:blipFill>
        <p:spPr>
          <a:xfrm>
            <a:off x="2011680" y="119772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3" name="Rounded Rectangle 6"/>
          <p:cNvSpPr/>
          <p:nvPr/>
        </p:nvSpPr>
        <p:spPr>
          <a:xfrm>
            <a:off x="5367600" y="1005840"/>
            <a:ext cx="3410280" cy="62136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Caddy · nginx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HTTPS, статика, прокси API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4" name="Rounded Rectangle 7"/>
          <p:cNvSpPr/>
          <p:nvPr/>
        </p:nvSpPr>
        <p:spPr>
          <a:xfrm>
            <a:off x="5495400" y="1143000"/>
            <a:ext cx="347040" cy="34704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520" tIns="137160" rIns="17352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5" name="Picture 8" descr="caddy.png"/>
          <p:cNvPicPr/>
          <p:nvPr/>
        </p:nvPicPr>
        <p:blipFill>
          <a:blip r:embed="rId2"/>
          <a:stretch/>
        </p:blipFill>
        <p:spPr>
          <a:xfrm>
            <a:off x="5550480" y="119772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TextBox 9"/>
          <p:cNvSpPr/>
          <p:nvPr/>
        </p:nvSpPr>
        <p:spPr>
          <a:xfrm>
            <a:off x="384120" y="1755720"/>
            <a:ext cx="13712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ПРИЛОЖЕНИЕ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Rounded Rectangle 10"/>
          <p:cNvSpPr/>
          <p:nvPr/>
        </p:nvSpPr>
        <p:spPr>
          <a:xfrm>
            <a:off x="1828800" y="1755720"/>
            <a:ext cx="2230920" cy="62136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React 18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TypeScript · Vite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Rounded Rectangle 11"/>
          <p:cNvSpPr/>
          <p:nvPr/>
        </p:nvSpPr>
        <p:spPr>
          <a:xfrm>
            <a:off x="1956960" y="1892880"/>
            <a:ext cx="347040" cy="34704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520" tIns="137160" rIns="17352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9" name="Picture 12" descr="react.png"/>
          <p:cNvPicPr/>
          <p:nvPr/>
        </p:nvPicPr>
        <p:blipFill>
          <a:blip r:embed="rId3"/>
          <a:stretch/>
        </p:blipFill>
        <p:spPr>
          <a:xfrm>
            <a:off x="2011680" y="194760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0" name="Rounded Rectangle 13"/>
          <p:cNvSpPr/>
          <p:nvPr/>
        </p:nvSpPr>
        <p:spPr>
          <a:xfrm>
            <a:off x="4187880" y="1755720"/>
            <a:ext cx="2230920" cy="621360"/>
          </a:xfrm>
          <a:prstGeom prst="roundRect">
            <a:avLst>
              <a:gd name="adj" fmla="val 12000"/>
            </a:avLst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FastAPI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сценарии, очки, API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Rounded Rectangle 14"/>
          <p:cNvSpPr/>
          <p:nvPr/>
        </p:nvSpPr>
        <p:spPr>
          <a:xfrm>
            <a:off x="4316040" y="1892880"/>
            <a:ext cx="347040" cy="347040"/>
          </a:xfrm>
          <a:prstGeom prst="roundRect">
            <a:avLst>
              <a:gd name="adj" fmla="val 22000"/>
            </a:avLst>
          </a:prstGeom>
          <a:solidFill>
            <a:srgbClr val="2E58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520" tIns="137160" rIns="17352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2" name="Picture 15" descr="fastapi.png"/>
          <p:cNvPicPr/>
          <p:nvPr/>
        </p:nvPicPr>
        <p:blipFill>
          <a:blip r:embed="rId4"/>
          <a:stretch/>
        </p:blipFill>
        <p:spPr>
          <a:xfrm>
            <a:off x="4370760" y="194760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3" name="Rounded Rectangle 16"/>
          <p:cNvSpPr/>
          <p:nvPr/>
        </p:nvSpPr>
        <p:spPr>
          <a:xfrm>
            <a:off x="6546960" y="1755720"/>
            <a:ext cx="2230920" cy="621360"/>
          </a:xfrm>
          <a:prstGeom prst="roundRect">
            <a:avLst>
              <a:gd name="adj" fmla="val 12000"/>
            </a:avLst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GigaChat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оценка и генерация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4" name="Rounded Rectangle 17"/>
          <p:cNvSpPr/>
          <p:nvPr/>
        </p:nvSpPr>
        <p:spPr>
          <a:xfrm>
            <a:off x="6675120" y="1892880"/>
            <a:ext cx="347040" cy="347040"/>
          </a:xfrm>
          <a:prstGeom prst="roundRect">
            <a:avLst>
              <a:gd name="adj" fmla="val 22000"/>
            </a:avLst>
          </a:prstGeom>
          <a:solidFill>
            <a:srgbClr val="2E58B3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520" tIns="137160" rIns="17352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5" name="Picture 18" descr="gigachat.png"/>
          <p:cNvPicPr/>
          <p:nvPr/>
        </p:nvPicPr>
        <p:blipFill>
          <a:blip r:embed="rId5"/>
          <a:stretch/>
        </p:blipFill>
        <p:spPr>
          <a:xfrm>
            <a:off x="6729840" y="194760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TextBox 19"/>
          <p:cNvSpPr/>
          <p:nvPr/>
        </p:nvSpPr>
        <p:spPr>
          <a:xfrm>
            <a:off x="384120" y="2505600"/>
            <a:ext cx="13712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ДАННЫЕ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Rounded Rectangle 20"/>
          <p:cNvSpPr/>
          <p:nvPr/>
        </p:nvSpPr>
        <p:spPr>
          <a:xfrm>
            <a:off x="1828800" y="2505600"/>
            <a:ext cx="3410280" cy="62136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PostgreSQL 17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сотрудники, сценарии, прогресс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Rounded Rectangle 21"/>
          <p:cNvSpPr/>
          <p:nvPr/>
        </p:nvSpPr>
        <p:spPr>
          <a:xfrm>
            <a:off x="1956960" y="2642760"/>
            <a:ext cx="347040" cy="34704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520" tIns="137160" rIns="17352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9" name="Picture 22" descr="postgresql.png"/>
          <p:cNvPicPr/>
          <p:nvPr/>
        </p:nvPicPr>
        <p:blipFill>
          <a:blip r:embed="rId6"/>
          <a:stretch/>
        </p:blipFill>
        <p:spPr>
          <a:xfrm>
            <a:off x="2011680" y="269748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0" name="Rounded Rectangle 23"/>
          <p:cNvSpPr/>
          <p:nvPr/>
        </p:nvSpPr>
        <p:spPr>
          <a:xfrm>
            <a:off x="5367600" y="2505600"/>
            <a:ext cx="3410280" cy="62136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Valkey 8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турнир онлайн, специвенты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1" name="Rounded Rectangle 24"/>
          <p:cNvSpPr/>
          <p:nvPr/>
        </p:nvSpPr>
        <p:spPr>
          <a:xfrm>
            <a:off x="5495400" y="2642760"/>
            <a:ext cx="347040" cy="34704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520" tIns="137160" rIns="17352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2" name="Picture 25" descr="valkey.png"/>
          <p:cNvPicPr/>
          <p:nvPr/>
        </p:nvPicPr>
        <p:blipFill>
          <a:blip r:embed="rId7"/>
          <a:stretch/>
        </p:blipFill>
        <p:spPr>
          <a:xfrm>
            <a:off x="5550480" y="269748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3" name="TextBox 26"/>
          <p:cNvSpPr/>
          <p:nvPr/>
        </p:nvSpPr>
        <p:spPr>
          <a:xfrm>
            <a:off x="384120" y="3255120"/>
            <a:ext cx="1371240" cy="62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НАБЛЮДАЕМОСТЬ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Rounded Rectangle 27"/>
          <p:cNvSpPr/>
          <p:nvPr/>
        </p:nvSpPr>
        <p:spPr>
          <a:xfrm>
            <a:off x="1828800" y="3255120"/>
            <a:ext cx="1640880" cy="62136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Prometheus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метрики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Rounded Rectangle 28"/>
          <p:cNvSpPr/>
          <p:nvPr/>
        </p:nvSpPr>
        <p:spPr>
          <a:xfrm>
            <a:off x="1956960" y="3392280"/>
            <a:ext cx="347040" cy="34704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520" tIns="137160" rIns="17352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6" name="Picture 29" descr="prometheus.png"/>
          <p:cNvPicPr/>
          <p:nvPr/>
        </p:nvPicPr>
        <p:blipFill>
          <a:blip r:embed="rId8"/>
          <a:stretch/>
        </p:blipFill>
        <p:spPr>
          <a:xfrm>
            <a:off x="2011680" y="34473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7" name="Rounded Rectangle 30"/>
          <p:cNvSpPr/>
          <p:nvPr/>
        </p:nvSpPr>
        <p:spPr>
          <a:xfrm>
            <a:off x="3598200" y="3255120"/>
            <a:ext cx="1640880" cy="62136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Loki · Alloy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логи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Rounded Rectangle 31"/>
          <p:cNvSpPr/>
          <p:nvPr/>
        </p:nvSpPr>
        <p:spPr>
          <a:xfrm>
            <a:off x="3726360" y="3392280"/>
            <a:ext cx="347040" cy="34704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520" tIns="137160" rIns="17352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9" name="Picture 32" descr="loki.png"/>
          <p:cNvPicPr/>
          <p:nvPr/>
        </p:nvPicPr>
        <p:blipFill>
          <a:blip r:embed="rId9"/>
          <a:stretch/>
        </p:blipFill>
        <p:spPr>
          <a:xfrm>
            <a:off x="3781080" y="34473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Rounded Rectangle 33"/>
          <p:cNvSpPr/>
          <p:nvPr/>
        </p:nvSpPr>
        <p:spPr>
          <a:xfrm>
            <a:off x="5367600" y="3255120"/>
            <a:ext cx="1640880" cy="62136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Grafana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дашборды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Rounded Rectangle 34"/>
          <p:cNvSpPr/>
          <p:nvPr/>
        </p:nvSpPr>
        <p:spPr>
          <a:xfrm>
            <a:off x="5495400" y="3392280"/>
            <a:ext cx="347040" cy="34704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520" tIns="137160" rIns="17352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2" name="Picture 35" descr="grafana.png"/>
          <p:cNvPicPr/>
          <p:nvPr/>
        </p:nvPicPr>
        <p:blipFill>
          <a:blip r:embed="rId10"/>
          <a:stretch/>
        </p:blipFill>
        <p:spPr>
          <a:xfrm>
            <a:off x="5550480" y="34473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Rounded Rectangle 36"/>
          <p:cNvSpPr/>
          <p:nvPr/>
        </p:nvSpPr>
        <p:spPr>
          <a:xfrm>
            <a:off x="7137000" y="3255120"/>
            <a:ext cx="1640880" cy="621360"/>
          </a:xfrm>
          <a:prstGeom prst="roundRect">
            <a:avLst>
              <a:gd name="adj" fmla="val 12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567000" tIns="54720" rIns="109800" bIns="54720" anchor="ctr">
            <a:noAutofit/>
          </a:bodyPr>
          <a:p>
            <a:pPr>
              <a:lnSpc>
                <a:spcPct val="100000"/>
              </a:lnSpc>
            </a:pPr>
            <a:r>
              <a:rPr lang="ru-RU" sz="13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pgAdmin</a:t>
            </a:r>
            <a:endParaRPr lang="ru-RU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доступ к БД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4" name="Rounded Rectangle 37"/>
          <p:cNvSpPr/>
          <p:nvPr/>
        </p:nvSpPr>
        <p:spPr>
          <a:xfrm>
            <a:off x="7264800" y="3392280"/>
            <a:ext cx="347040" cy="347040"/>
          </a:xfrm>
          <a:prstGeom prst="roundRect">
            <a:avLst>
              <a:gd name="adj" fmla="val 22000"/>
            </a:avLst>
          </a:prstGeom>
          <a:solidFill>
            <a:srgbClr val="3A2E66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73520" tIns="137160" rIns="17352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5" name="Picture 38" descr="pgadmin.png"/>
          <p:cNvPicPr/>
          <p:nvPr/>
        </p:nvPicPr>
        <p:blipFill>
          <a:blip r:embed="rId11"/>
          <a:stretch/>
        </p:blipFill>
        <p:spPr>
          <a:xfrm>
            <a:off x="7319880" y="3447360"/>
            <a:ext cx="237240" cy="237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TextBox 39"/>
          <p:cNvSpPr/>
          <p:nvPr/>
        </p:nvSpPr>
        <p:spPr>
          <a:xfrm>
            <a:off x="384120" y="4069080"/>
            <a:ext cx="64004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Swagger / OpenAPI  ·  JSON и Excel для HR/LMS  ·  Docker Compose  ·  CI/CD → VPS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Rectangle 1"/>
          <p:cNvSpPr/>
          <p:nvPr/>
        </p:nvSpPr>
        <p:spPr>
          <a:xfrm>
            <a:off x="8357760" y="320040"/>
            <a:ext cx="429480" cy="42948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8" name="Rounded Rectangle 2"/>
          <p:cNvSpPr/>
          <p:nvPr/>
        </p:nvSpPr>
        <p:spPr>
          <a:xfrm>
            <a:off x="384120" y="502920"/>
            <a:ext cx="1842120" cy="292320"/>
          </a:xfrm>
          <a:prstGeom prst="roundRect">
            <a:avLst>
              <a:gd name="adj" fmla="val 50000"/>
            </a:avLst>
          </a:prstGeom>
          <a:noFill/>
          <a:ln>
            <a:solidFill>
              <a:srgbClr val="9FC5E8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5720" tIns="0" rIns="45720" bIns="0" anchor="ctr">
            <a:noAutofit/>
          </a:bodyPr>
          <a:p>
            <a:pPr algn="ctr">
              <a:lnSpc>
                <a:spcPct val="100000"/>
              </a:lnSpc>
            </a:pPr>
            <a:r>
              <a:rPr lang="ru-RU" sz="9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СЛЕДУЮЩИЕ СТАНЦИИ</a:t>
            </a:r>
            <a:endParaRPr lang="ru-RU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Box 3"/>
          <p:cNvSpPr/>
          <p:nvPr/>
        </p:nvSpPr>
        <p:spPr>
          <a:xfrm>
            <a:off x="384120" y="1005840"/>
            <a:ext cx="548604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34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После хакатона</a:t>
            </a:r>
            <a:endParaRPr lang="ru-RU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Rectangle 4"/>
          <p:cNvSpPr/>
          <p:nvPr/>
        </p:nvSpPr>
        <p:spPr>
          <a:xfrm>
            <a:off x="1333080" y="2014200"/>
            <a:ext cx="6517080" cy="45360"/>
          </a:xfrm>
          <a:prstGeom prst="rect">
            <a:avLst/>
          </a:prstGeom>
          <a:solidFill>
            <a:srgbClr val="9FC5E8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22680" rIns="182880" bIns="2268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Oval 5"/>
          <p:cNvSpPr/>
          <p:nvPr/>
        </p:nvSpPr>
        <p:spPr>
          <a:xfrm>
            <a:off x="1260000" y="1904400"/>
            <a:ext cx="255600" cy="2556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6FD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800" tIns="90360" rIns="127800" bIns="903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Rounded Rectangle 6"/>
          <p:cNvSpPr/>
          <p:nvPr/>
        </p:nvSpPr>
        <p:spPr>
          <a:xfrm>
            <a:off x="384120" y="2240280"/>
            <a:ext cx="1992960" cy="2148480"/>
          </a:xfrm>
          <a:prstGeom prst="roundRect">
            <a:avLst>
              <a:gd name="adj" fmla="val 8000"/>
            </a:avLst>
          </a:prstGeom>
          <a:solidFill>
            <a:srgbClr val="271D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46160" tIns="128160" rIns="128160" bIns="91440" anchor="t">
            <a:noAutofit/>
          </a:bodyPr>
          <a:p>
            <a:pPr>
              <a:lnSpc>
                <a:spcPct val="100000"/>
              </a:lnSpc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Контент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Валидация сценариев с экспертами ВСМ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Медиа из задания: фото, видео, аудио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Больше должностей и компетенций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Oval 7"/>
          <p:cNvSpPr/>
          <p:nvPr/>
        </p:nvSpPr>
        <p:spPr>
          <a:xfrm>
            <a:off x="3381480" y="1904400"/>
            <a:ext cx="255600" cy="2556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6FD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800" tIns="90360" rIns="127800" bIns="903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Rounded Rectangle 8"/>
          <p:cNvSpPr/>
          <p:nvPr/>
        </p:nvSpPr>
        <p:spPr>
          <a:xfrm>
            <a:off x="2505600" y="2240280"/>
            <a:ext cx="1992960" cy="2148480"/>
          </a:xfrm>
          <a:prstGeom prst="roundRect">
            <a:avLst>
              <a:gd name="adj" fmla="val 8000"/>
            </a:avLst>
          </a:prstGeom>
          <a:solidFill>
            <a:srgbClr val="271D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46160" tIns="128160" rIns="128160" bIns="91440" anchor="t">
            <a:noAutofit/>
          </a:bodyPr>
          <a:p>
            <a:pPr>
              <a:lnSpc>
                <a:spcPct val="100000"/>
              </a:lnSpc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ИИ и оценка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Калибровка рубрик на экспертной разметке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Голосовой ответ с транскрибацией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Переключение LLM-провайдеров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Oval 9"/>
          <p:cNvSpPr/>
          <p:nvPr/>
        </p:nvSpPr>
        <p:spPr>
          <a:xfrm>
            <a:off x="5502600" y="1904400"/>
            <a:ext cx="255600" cy="2556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6FD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800" tIns="90360" rIns="127800" bIns="903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Rounded Rectangle 10"/>
          <p:cNvSpPr/>
          <p:nvPr/>
        </p:nvSpPr>
        <p:spPr>
          <a:xfrm>
            <a:off x="4626720" y="2240280"/>
            <a:ext cx="1992960" cy="2148480"/>
          </a:xfrm>
          <a:prstGeom prst="roundRect">
            <a:avLst>
              <a:gd name="adj" fmla="val 8000"/>
            </a:avLst>
          </a:prstGeom>
          <a:solidFill>
            <a:srgbClr val="271D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46160" tIns="128160" rIns="128160" bIns="91440" anchor="t">
            <a:noAutofit/>
          </a:bodyPr>
          <a:p>
            <a:pPr>
              <a:lnSpc>
                <a:spcPct val="100000"/>
              </a:lnSpc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Продукт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Командные турниры бригад и депо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Лиги и сезоны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PWA поверх web view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Oval 11"/>
          <p:cNvSpPr/>
          <p:nvPr/>
        </p:nvSpPr>
        <p:spPr>
          <a:xfrm>
            <a:off x="7624080" y="1904400"/>
            <a:ext cx="255600" cy="255600"/>
          </a:xfrm>
          <a:prstGeom prst="ellipse">
            <a:avLst/>
          </a:prstGeom>
          <a:solidFill>
            <a:srgbClr val="FFFFFF"/>
          </a:solidFill>
          <a:ln w="38100">
            <a:solidFill>
              <a:srgbClr val="3F6FD1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27800" tIns="90360" rIns="127800" bIns="903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Rounded Rectangle 12"/>
          <p:cNvSpPr/>
          <p:nvPr/>
        </p:nvSpPr>
        <p:spPr>
          <a:xfrm>
            <a:off x="6748200" y="2240280"/>
            <a:ext cx="1992960" cy="2148480"/>
          </a:xfrm>
          <a:prstGeom prst="roundRect">
            <a:avLst>
              <a:gd name="adj" fmla="val 8000"/>
            </a:avLst>
          </a:prstGeom>
          <a:solidFill>
            <a:srgbClr val="271D47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46160" tIns="128160" rIns="128160" bIns="91440" anchor="t">
            <a:noAutofit/>
          </a:bodyPr>
          <a:p>
            <a:pPr>
              <a:lnSpc>
                <a:spcPct val="100000"/>
              </a:lnSpc>
            </a:pPr>
            <a:r>
              <a:rPr lang="ru-RU" sz="15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Интеграции</a:t>
            </a:r>
            <a:endParaRPr lang="ru-RU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SSO с системами ВСМ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Глубже с LMS и HR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marL="219600" indent="-219600">
              <a:lnSpc>
                <a:spcPct val="100000"/>
              </a:lnSpc>
              <a:spcBef>
                <a:spcPts val="601"/>
              </a:spcBef>
              <a:buClr>
                <a:srgbClr val="9FC5E8"/>
              </a:buClr>
              <a:buSzPct val="70000"/>
              <a:buFont typeface="Arial"/>
              <a:buChar char="■"/>
            </a:pPr>
            <a:r>
              <a:rPr lang="ru-RU" sz="10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Импорт сотрудников и учебных групп</a:t>
            </a:r>
            <a:endParaRPr lang="ru-RU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Rectangle 1"/>
          <p:cNvSpPr/>
          <p:nvPr/>
        </p:nvSpPr>
        <p:spPr>
          <a:xfrm>
            <a:off x="8357760" y="320040"/>
            <a:ext cx="429480" cy="42948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0" name="Rectangle 2"/>
          <p:cNvSpPr/>
          <p:nvPr/>
        </p:nvSpPr>
        <p:spPr>
          <a:xfrm>
            <a:off x="7927920" y="749880"/>
            <a:ext cx="429480" cy="429480"/>
          </a:xfrm>
          <a:prstGeom prst="rect">
            <a:avLst/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TextBox 3"/>
          <p:cNvSpPr/>
          <p:nvPr/>
        </p:nvSpPr>
        <p:spPr>
          <a:xfrm>
            <a:off x="384120" y="411480"/>
            <a:ext cx="7314840" cy="118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36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Магистраль 400</a:t>
            </a:r>
            <a:endParaRPr lang="ru-RU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ru-RU" sz="14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Тренажёр нештатных ситуаций для проводников ВСМ</a:t>
            </a:r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Rounded Rectangle 4"/>
          <p:cNvSpPr/>
          <p:nvPr/>
        </p:nvSpPr>
        <p:spPr>
          <a:xfrm>
            <a:off x="384120" y="1783080"/>
            <a:ext cx="8393760" cy="2514240"/>
          </a:xfrm>
          <a:prstGeom prst="roundRect">
            <a:avLst>
              <a:gd name="adj" fmla="val 8000"/>
            </a:avLst>
          </a:prstGeom>
          <a:solidFill>
            <a:srgbClr val="271D47"/>
          </a:solidFill>
          <a:ln w="12700">
            <a:solidFill>
              <a:srgbClr val="3A2E66"/>
            </a:solidFill>
            <a:round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Rounded Rectangle 5"/>
          <p:cNvSpPr/>
          <p:nvPr/>
        </p:nvSpPr>
        <p:spPr>
          <a:xfrm>
            <a:off x="567000" y="1938600"/>
            <a:ext cx="2194200" cy="2194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137160" rIns="182880" bIns="137160" anchor="t">
            <a:noAutofit/>
          </a:bodyPr>
          <a:p>
            <a:endParaRPr lang="ru-RU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4" name="Picture 6" descr="qr.png"/>
          <p:cNvPicPr/>
          <p:nvPr/>
        </p:nvPicPr>
        <p:blipFill>
          <a:blip r:embed="rId1"/>
          <a:stretch/>
        </p:blipFill>
        <p:spPr>
          <a:xfrm>
            <a:off x="658440" y="2030040"/>
            <a:ext cx="2011320" cy="2011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5" name="TextBox 7"/>
          <p:cNvSpPr/>
          <p:nvPr/>
        </p:nvSpPr>
        <p:spPr>
          <a:xfrm>
            <a:off x="3063240" y="2011680"/>
            <a:ext cx="548604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0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ПОПРОБУЙТЕ ПРЯМО СЕЙЧАС</a:t>
            </a:r>
            <a:endParaRPr lang="ru-RU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lang="ru-RU" sz="320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vsm-gamification</a:t>
            </a:r>
            <a:r>
              <a:rPr lang="ru-RU" sz="320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.ru</a:t>
            </a:r>
            <a:endParaRPr lang="ru-RU" sz="3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Rounded Rectangle 8"/>
          <p:cNvSpPr/>
          <p:nvPr/>
        </p:nvSpPr>
        <p:spPr>
          <a:xfrm>
            <a:off x="3063240" y="3200400"/>
            <a:ext cx="3657240" cy="365400"/>
          </a:xfrm>
          <a:prstGeom prst="roundRect">
            <a:avLst>
              <a:gd name="adj" fmla="val 50000"/>
            </a:avLst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0" rIns="137160" bIns="0" anchor="ctr">
            <a:noAutofit/>
          </a:bodyPr>
          <a:p>
            <a:pPr>
              <a:lnSpc>
                <a:spcPct val="100000"/>
              </a:lnSpc>
            </a:pPr>
            <a:r>
              <a:rPr lang="ru-RU" sz="115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Проводник   </a:t>
            </a:r>
            <a:r>
              <a:rPr lang="ru-RU" sz="11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demo@m400.ru / demo123</a:t>
            </a:r>
            <a:endParaRPr lang="ru-RU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Rounded Rectangle 9"/>
          <p:cNvSpPr/>
          <p:nvPr/>
        </p:nvSpPr>
        <p:spPr>
          <a:xfrm>
            <a:off x="3063240" y="3657600"/>
            <a:ext cx="3657240" cy="365400"/>
          </a:xfrm>
          <a:prstGeom prst="roundRect">
            <a:avLst>
              <a:gd name="adj" fmla="val 50000"/>
            </a:avLst>
          </a:prstGeom>
          <a:solidFill>
            <a:srgbClr val="3F6FD1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182880" tIns="0" rIns="137160" bIns="0" anchor="ctr">
            <a:noAutofit/>
          </a:bodyPr>
          <a:p>
            <a:pPr>
              <a:lnSpc>
                <a:spcPct val="100000"/>
              </a:lnSpc>
            </a:pPr>
            <a:r>
              <a:rPr lang="ru-RU" sz="1150" b="0" u="none" strike="noStrike">
                <a:solidFill>
                  <a:srgbClr val="9FC5E8"/>
                </a:solidFill>
                <a:effectLst/>
                <a:uFillTx/>
                <a:latin typeface="Moscow Sans Regular"/>
                <a:ea typeface="Moscow Sans Regular"/>
              </a:rPr>
              <a:t>Руководитель   </a:t>
            </a:r>
            <a:r>
              <a:rPr lang="ru-RU" sz="1150" b="0" u="none" strike="noStrike">
                <a:solidFill>
                  <a:srgbClr val="FFFFFF"/>
                </a:solidFill>
                <a:effectLst/>
                <a:uFillTx/>
                <a:latin typeface="Moscow Sans Regular"/>
                <a:ea typeface="Moscow Sans Regular"/>
              </a:rPr>
              <a:t>lead@m400.ru / lead123</a:t>
            </a:r>
            <a:endParaRPr lang="ru-RU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10"/>
          <p:cNvSpPr/>
          <p:nvPr/>
        </p:nvSpPr>
        <p:spPr>
          <a:xfrm>
            <a:off x="384120" y="4526280"/>
            <a:ext cx="5943240" cy="31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>
              <a:lnSpc>
                <a:spcPct val="100000"/>
              </a:lnSpc>
            </a:pPr>
            <a:r>
              <a:rPr lang="ru-RU" sz="1100" b="0" u="none" strike="noStrike">
                <a:solidFill>
                  <a:srgbClr val="C3BDDB"/>
                </a:solidFill>
                <a:effectLst/>
                <a:uFillTx/>
                <a:latin typeface="Moscow Sans Regular"/>
                <a:ea typeface="Moscow Sans Regular"/>
              </a:rPr>
              <a:t>Команда «Кокаманы» · Хакатон Московского транспорта</a:t>
            </a:r>
            <a:endParaRPr lang="ru-RU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LibreOffice/26.2.6.1$Windows_X86_64 LibreOffice_project/d1ee4fa77ef37aa4cfa80ea6fd156dcae5d60263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ru-RU</dc:language>
  <cp:lastModifiedBy/>
  <dcterms:modified xsi:type="dcterms:W3CDTF">2026-10-01T21:24:39Z</dcterms:modified>
  <cp:revision>1</cp:revision>
  <dc:subject/>
  <dc:title/>
</cp:coreProperties>
</file>